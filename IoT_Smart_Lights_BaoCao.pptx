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4" d="100"/>
          <a:sy n="164" d="100"/>
        </p:scale>
        <p:origin x="12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Phút</c:v>
                </c:pt>
              </c:strCache>
            </c:strRef>
          </c:tx>
          <c:spPr>
            <a:solidFill>
              <a:srgbClr val="4F9CFF"/>
            </a:solidFill>
            <a:effectLst/>
          </c:spPr>
          <c:invertIfNegative val="0"/>
          <c:dLbls>
            <c:numFmt formatCode="#,##0" sourceLinked="0"/>
            <c:spPr>
              <a:noFill/>
              <a:ln>
                <a:noFill/>
              </a:ln>
              <a:effectLst/>
            </c:spPr>
            <c:txPr>
              <a:bodyPr/>
              <a:lstStyle/>
              <a:p>
                <a:pPr>
                  <a:defRPr sz="1000" b="0" i="0" u="none" strike="noStrike">
                    <a:solidFill>
                      <a:srgbClr val="FFFFF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Đèn trùm</c:v>
                </c:pt>
                <c:pt idx="1">
                  <c:v>TV</c:v>
                </c:pt>
                <c:pt idx="2">
                  <c:v>Đầu giường</c:v>
                </c:pt>
                <c:pt idx="3">
                  <c:v>Bàn LV</c:v>
                </c:pt>
                <c:pt idx="4">
                  <c:v>Bếp</c:v>
                </c:pt>
                <c:pt idx="5">
                  <c:v>P.tắm</c:v>
                </c:pt>
              </c:strCache>
            </c:strRef>
          </c:cat>
          <c:val>
            <c:numRef>
              <c:f>Sheet1!$B$2:$B$7</c:f>
              <c:numCache>
                <c:formatCode>General</c:formatCode>
                <c:ptCount val="6"/>
                <c:pt idx="0">
                  <c:v>87</c:v>
                </c:pt>
                <c:pt idx="1">
                  <c:v>87</c:v>
                </c:pt>
                <c:pt idx="2">
                  <c:v>0</c:v>
                </c:pt>
                <c:pt idx="3">
                  <c:v>17</c:v>
                </c:pt>
                <c:pt idx="4">
                  <c:v>88</c:v>
                </c:pt>
                <c:pt idx="5">
                  <c:v>75</c:v>
                </c:pt>
              </c:numCache>
            </c:numRef>
          </c:val>
          <c:extLst>
            <c:ext xmlns:c16="http://schemas.microsoft.com/office/drawing/2014/chart" uri="{C3380CC4-5D6E-409C-BE32-E72D297353CC}">
              <c16:uniqueId val="{00000000-251B-41E2-BF6E-B4A73C4DC09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7B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43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đầu. Giới thiệu tên đề tài IoT Smart Lights, mục tiêu: điều khiển đèn nhà thông minh qua web dùng MQTT, và giới thiệu nhóm 4 người chia 2 mảng web và firmware.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hệ thống làm gì. Nhấn mạnh các con số: 6 đèn, 4 phòng, 3 tông màu cho đèn RGB, 2 loại cảm biến. Đây là quy mô của đề tài.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kiến trúc pub/sub: Web publish lệnh lên topic esp32/control, ESP32 subscribe nhận; ESP32 publish trạng thái lên esp32/status, web subscribe. Broker EMQX làm trung gian qua TLS. ESP32 còn đẩy dữ liệu lên ThingSpeak. Điểm hay: chỉ 2 topic, phân biệt đèn bằng light_id.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 stack công nghệ. Nhấn mạnh: MQTT qua TLS bảo mật, firmware C++ trên ESP32 mô phỏng bằng Wokwi (không cần phần cứng thật), web React hiện đại, ThingSpeak để log dữ liệu, và có kiểm thử tự động 81 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linh kiện và công dụng từng thứ. Lưu ý: PIR chỉ lắp ở phòng tắm để tự bật đèn theo chuyển động; DHT22 đo môi trường; điện trở 220 ohm bắt buộc để bảo vệ LED. Có thể nói thêm PIR dùng GPIO input-only, DHT22 phải dùng chân xuất/nhập được (GPIO 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tính năng cốt lõi. Nhấn mạnh PIR: mô hình cảm biến → hành động; và đồng bộ 2 chiều thời gian thực qua MQTT. 3 tông màu khớp giữa web và firmware.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web có 2 tab. Bên phải là ví dụ biểu đồ thống kê thời gian dùng đèn (số liệu thật đã lọc). Có thể mở web demo trực tiếp lúc trình bày.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tính năng mở rộng, mỗi thành viên phụ trách một. 2 người làm web (biểu đồ, export CSV), 2 người làm firmware (DHT22, lịch hẹn giờ). Cả 4 đã tích hợp và chạy thật.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chia việc: 2 người web, 2 người firmware. Nhờ kiến trúc pub/sub MQTT, hai mảng phát triển song song, chỉ cần thống nhất định dạng message JSON. Nêu rõ ai làm gì.</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cho báo cáo: kể lại các lỗi thật đã gặp và cách khắc phục. Thể hiện nhóm hiểu sâu hệ thống, không chỉ code cho chạy. Mỗi lỗi là một bài học về MQTT, phần cứng GPIO, thư viện, hay xử lý dữ liệu.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thực nêu hạn chế (giám khảo đánh giá cao sự tự nhận biết): bảo mật TLS demo, ThingSpeak chỉ log on/off, chưa auth. Hướng phát triển: tự động hoá theo nhiệt độ, cảnh báo, triển khai phần cứng thật.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hệ thống chạy thật đầu-cuối, không chỉ mô phỏng lý thuyết. Cảm ơn và mời đặt câu hỏi. Có thể demo trực tiếp web + Wokwi ở đây.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8595360" y="640080"/>
            <a:ext cx="457200" cy="457200"/>
          </a:xfrm>
          <a:prstGeom prst="ellipse">
            <a:avLst/>
          </a:prstGeom>
          <a:solidFill>
            <a:srgbClr val="FFAA00"/>
          </a:solidFill>
          <a:ln/>
          <a:effectLst>
            <a:outerShdw blurRad="177800" dist="50800" dir="16200000" algn="bl" rotWithShape="0">
              <a:srgbClr val="FFAA00">
                <a:alpha val="70000"/>
              </a:srgbClr>
            </a:outerShdw>
          </a:effectLst>
        </p:spPr>
      </p:sp>
      <p:sp>
        <p:nvSpPr>
          <p:cNvPr id="3" name="Shape 1"/>
          <p:cNvSpPr/>
          <p:nvPr/>
        </p:nvSpPr>
        <p:spPr>
          <a:xfrm>
            <a:off x="9253728" y="640080"/>
            <a:ext cx="457200" cy="457200"/>
          </a:xfrm>
          <a:prstGeom prst="ellipse">
            <a:avLst/>
          </a:prstGeom>
          <a:solidFill>
            <a:srgbClr val="FFC24D"/>
          </a:solidFill>
          <a:ln/>
          <a:effectLst>
            <a:outerShdw blurRad="177800" dist="50800" dir="16200000" algn="bl" rotWithShape="0">
              <a:srgbClr val="FFC24D">
                <a:alpha val="70000"/>
              </a:srgbClr>
            </a:outerShdw>
          </a:effectLst>
        </p:spPr>
      </p:sp>
      <p:sp>
        <p:nvSpPr>
          <p:cNvPr id="4" name="Shape 2"/>
          <p:cNvSpPr/>
          <p:nvPr/>
        </p:nvSpPr>
        <p:spPr>
          <a:xfrm>
            <a:off x="9912096" y="640080"/>
            <a:ext cx="457200" cy="457200"/>
          </a:xfrm>
          <a:prstGeom prst="ellipse">
            <a:avLst/>
          </a:prstGeom>
          <a:solidFill>
            <a:srgbClr val="4F9CFF"/>
          </a:solidFill>
          <a:ln/>
          <a:effectLst>
            <a:outerShdw blurRad="177800" dist="50800" dir="16200000" algn="bl" rotWithShape="0">
              <a:srgbClr val="4F9CFF">
                <a:alpha val="70000"/>
              </a:srgbClr>
            </a:outerShdw>
          </a:effectLst>
        </p:spPr>
      </p:sp>
      <p:sp>
        <p:nvSpPr>
          <p:cNvPr id="5" name="Shape 3"/>
          <p:cNvSpPr/>
          <p:nvPr/>
        </p:nvSpPr>
        <p:spPr>
          <a:xfrm>
            <a:off x="10570464" y="640080"/>
            <a:ext cx="457200" cy="457200"/>
          </a:xfrm>
          <a:prstGeom prst="ellipse">
            <a:avLst/>
          </a:prstGeom>
          <a:solidFill>
            <a:srgbClr val="4FE0A3"/>
          </a:solidFill>
          <a:ln/>
          <a:effectLst>
            <a:outerShdw blurRad="177800" dist="50800" dir="16200000" algn="bl" rotWithShape="0">
              <a:srgbClr val="4FE0A3">
                <a:alpha val="70000"/>
              </a:srgbClr>
            </a:outerShdw>
          </a:effectLst>
        </p:spPr>
      </p:sp>
      <p:sp>
        <p:nvSpPr>
          <p:cNvPr id="6" name="Shape 4"/>
          <p:cNvSpPr/>
          <p:nvPr/>
        </p:nvSpPr>
        <p:spPr>
          <a:xfrm>
            <a:off x="11228832" y="640080"/>
            <a:ext cx="457200" cy="457200"/>
          </a:xfrm>
          <a:prstGeom prst="ellipse">
            <a:avLst/>
          </a:prstGeom>
          <a:solidFill>
            <a:srgbClr val="B07CFF"/>
          </a:solidFill>
          <a:ln/>
          <a:effectLst>
            <a:outerShdw blurRad="177800" dist="50800" dir="16200000" algn="bl" rotWithShape="0">
              <a:srgbClr val="B07CFF">
                <a:alpha val="70000"/>
              </a:srgbClr>
            </a:outerShdw>
          </a:effectLst>
        </p:spPr>
      </p:sp>
      <p:sp>
        <p:nvSpPr>
          <p:cNvPr id="7" name="Text 5"/>
          <p:cNvSpPr/>
          <p:nvPr/>
        </p:nvSpPr>
        <p:spPr>
          <a:xfrm>
            <a:off x="822960" y="2148840"/>
            <a:ext cx="9144000" cy="320040"/>
          </a:xfrm>
          <a:prstGeom prst="rect">
            <a:avLst/>
          </a:prstGeom>
          <a:noFill/>
          <a:ln/>
        </p:spPr>
        <p:txBody>
          <a:bodyPr wrap="square" lIns="0" tIns="0" rIns="0" bIns="0" rtlCol="0" anchor="ctr"/>
          <a:lstStyle/>
          <a:p>
            <a:pPr marL="0" indent="0">
              <a:buNone/>
            </a:pPr>
            <a:r>
              <a:rPr lang="en-US" sz="1400" b="1" kern="0" spc="300" dirty="0">
                <a:solidFill>
                  <a:srgbClr val="FFAA00"/>
                </a:solidFill>
                <a:latin typeface="Calibri" pitchFamily="34" charset="0"/>
                <a:ea typeface="Calibri" pitchFamily="34" charset="-122"/>
                <a:cs typeface="Calibri" pitchFamily="34" charset="-120"/>
              </a:rPr>
              <a:t>BÁO CÁO MÔN HỌC — INTERNET OF THINGS</a:t>
            </a:r>
            <a:endParaRPr lang="en-US" sz="1400" dirty="0"/>
          </a:p>
        </p:txBody>
      </p:sp>
      <p:sp>
        <p:nvSpPr>
          <p:cNvPr id="8" name="Text 6"/>
          <p:cNvSpPr/>
          <p:nvPr/>
        </p:nvSpPr>
        <p:spPr>
          <a:xfrm>
            <a:off x="777240" y="2468880"/>
            <a:ext cx="10515600" cy="109728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IoT Smart Lights</a:t>
            </a:r>
            <a:endParaRPr lang="en-US" sz="6000" dirty="0"/>
          </a:p>
        </p:txBody>
      </p:sp>
      <p:sp>
        <p:nvSpPr>
          <p:cNvPr id="9" name="Text 7"/>
          <p:cNvSpPr/>
          <p:nvPr/>
        </p:nvSpPr>
        <p:spPr>
          <a:xfrm>
            <a:off x="822960" y="3611880"/>
            <a:ext cx="10058400" cy="457200"/>
          </a:xfrm>
          <a:prstGeom prst="rect">
            <a:avLst/>
          </a:prstGeom>
          <a:noFill/>
          <a:ln/>
        </p:spPr>
        <p:txBody>
          <a:bodyPr wrap="square" lIns="0" tIns="0" rIns="0" bIns="0" rtlCol="0" anchor="ctr"/>
          <a:lstStyle/>
          <a:p>
            <a:pPr marL="0" indent="0">
              <a:buNone/>
            </a:pPr>
            <a:r>
              <a:rPr lang="en-US" sz="2000" dirty="0">
                <a:solidFill>
                  <a:srgbClr val="9AA7BD"/>
                </a:solidFill>
                <a:latin typeface="Calibri" pitchFamily="34" charset="0"/>
                <a:ea typeface="Calibri" pitchFamily="34" charset="-122"/>
                <a:cs typeface="Calibri" pitchFamily="34" charset="-120"/>
              </a:rPr>
              <a:t>Hệ thống điều khiển đèn nhà thông minh qua Web &amp; MQTT</a:t>
            </a:r>
            <a:endParaRPr lang="en-US" sz="2000" dirty="0"/>
          </a:p>
        </p:txBody>
      </p:sp>
      <p:sp>
        <p:nvSpPr>
          <p:cNvPr id="10" name="Shape 8"/>
          <p:cNvSpPr/>
          <p:nvPr/>
        </p:nvSpPr>
        <p:spPr>
          <a:xfrm>
            <a:off x="822960" y="4343400"/>
            <a:ext cx="1687068" cy="457200"/>
          </a:xfrm>
          <a:prstGeom prst="roundRect">
            <a:avLst>
              <a:gd name="adj" fmla="val 20000"/>
            </a:avLst>
          </a:prstGeom>
          <a:solidFill>
            <a:srgbClr val="1B2335"/>
          </a:solidFill>
          <a:ln w="12700">
            <a:solidFill>
              <a:srgbClr val="35415C"/>
            </a:solidFill>
            <a:prstDash val="solid"/>
          </a:ln>
        </p:spPr>
      </p:sp>
      <p:sp>
        <p:nvSpPr>
          <p:cNvPr id="11" name="Text 9"/>
          <p:cNvSpPr/>
          <p:nvPr/>
        </p:nvSpPr>
        <p:spPr>
          <a:xfrm>
            <a:off x="822960" y="4343400"/>
            <a:ext cx="1687068" cy="4572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ESP32 / Wokwi</a:t>
            </a:r>
            <a:endParaRPr lang="en-US" sz="1300" dirty="0"/>
          </a:p>
        </p:txBody>
      </p:sp>
      <p:sp>
        <p:nvSpPr>
          <p:cNvPr id="12" name="Shape 10"/>
          <p:cNvSpPr/>
          <p:nvPr/>
        </p:nvSpPr>
        <p:spPr>
          <a:xfrm>
            <a:off x="2738628" y="4343400"/>
            <a:ext cx="1476756" cy="457200"/>
          </a:xfrm>
          <a:prstGeom prst="roundRect">
            <a:avLst>
              <a:gd name="adj" fmla="val 20000"/>
            </a:avLst>
          </a:prstGeom>
          <a:solidFill>
            <a:srgbClr val="1B2335"/>
          </a:solidFill>
          <a:ln w="12700">
            <a:solidFill>
              <a:srgbClr val="35415C"/>
            </a:solidFill>
            <a:prstDash val="solid"/>
          </a:ln>
        </p:spPr>
      </p:sp>
      <p:sp>
        <p:nvSpPr>
          <p:cNvPr id="13" name="Text 11"/>
          <p:cNvSpPr/>
          <p:nvPr/>
        </p:nvSpPr>
        <p:spPr>
          <a:xfrm>
            <a:off x="2738628" y="4343400"/>
            <a:ext cx="1476756" cy="4572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MQTT (EMQX)</a:t>
            </a:r>
            <a:endParaRPr lang="en-US" sz="1300" dirty="0"/>
          </a:p>
        </p:txBody>
      </p:sp>
      <p:sp>
        <p:nvSpPr>
          <p:cNvPr id="14" name="Shape 12"/>
          <p:cNvSpPr/>
          <p:nvPr/>
        </p:nvSpPr>
        <p:spPr>
          <a:xfrm>
            <a:off x="4443984" y="4343400"/>
            <a:ext cx="1581912" cy="457200"/>
          </a:xfrm>
          <a:prstGeom prst="roundRect">
            <a:avLst>
              <a:gd name="adj" fmla="val 20000"/>
            </a:avLst>
          </a:prstGeom>
          <a:solidFill>
            <a:srgbClr val="1B2335"/>
          </a:solidFill>
          <a:ln w="12700">
            <a:solidFill>
              <a:srgbClr val="35415C"/>
            </a:solidFill>
            <a:prstDash val="solid"/>
          </a:ln>
        </p:spPr>
      </p:sp>
      <p:sp>
        <p:nvSpPr>
          <p:cNvPr id="15" name="Text 13"/>
          <p:cNvSpPr/>
          <p:nvPr/>
        </p:nvSpPr>
        <p:spPr>
          <a:xfrm>
            <a:off x="4443984" y="4343400"/>
            <a:ext cx="1581912" cy="4572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React + Vite</a:t>
            </a:r>
            <a:endParaRPr lang="en-US" sz="1300" dirty="0"/>
          </a:p>
        </p:txBody>
      </p:sp>
      <p:sp>
        <p:nvSpPr>
          <p:cNvPr id="16" name="Shape 14"/>
          <p:cNvSpPr/>
          <p:nvPr/>
        </p:nvSpPr>
        <p:spPr>
          <a:xfrm>
            <a:off x="6254496" y="4343400"/>
            <a:ext cx="1371600" cy="457200"/>
          </a:xfrm>
          <a:prstGeom prst="roundRect">
            <a:avLst>
              <a:gd name="adj" fmla="val 20000"/>
            </a:avLst>
          </a:prstGeom>
          <a:solidFill>
            <a:srgbClr val="1B2335"/>
          </a:solidFill>
          <a:ln w="12700">
            <a:solidFill>
              <a:srgbClr val="35415C"/>
            </a:solidFill>
            <a:prstDash val="solid"/>
          </a:ln>
        </p:spPr>
      </p:sp>
      <p:sp>
        <p:nvSpPr>
          <p:cNvPr id="17" name="Text 15"/>
          <p:cNvSpPr/>
          <p:nvPr/>
        </p:nvSpPr>
        <p:spPr>
          <a:xfrm>
            <a:off x="6254496" y="4343400"/>
            <a:ext cx="137160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ThingSpeak</a:t>
            </a:r>
            <a:endParaRPr lang="en-US" sz="1300" dirty="0"/>
          </a:p>
        </p:txBody>
      </p:sp>
      <p:sp>
        <p:nvSpPr>
          <p:cNvPr id="18" name="Text 16"/>
          <p:cNvSpPr/>
          <p:nvPr/>
        </p:nvSpPr>
        <p:spPr>
          <a:xfrm>
            <a:off x="822960" y="5760720"/>
            <a:ext cx="10058400" cy="365760"/>
          </a:xfrm>
          <a:prstGeom prst="rect">
            <a:avLst/>
          </a:prstGeom>
          <a:noFill/>
          <a:ln/>
        </p:spPr>
        <p:txBody>
          <a:bodyPr wrap="square" lIns="0" tIns="0" rIns="0" bIns="0" rtlCol="0" anchor="ctr"/>
          <a:lstStyle/>
          <a:p>
            <a:pPr marL="0" indent="0">
              <a:buNone/>
            </a:pPr>
            <a:r>
              <a:rPr lang="en-US" sz="1400" i="1" dirty="0">
                <a:solidFill>
                  <a:srgbClr val="9AA7BD"/>
                </a:solidFill>
                <a:latin typeface="Calibri" pitchFamily="34" charset="0"/>
                <a:ea typeface="Calibri" pitchFamily="34" charset="-122"/>
                <a:cs typeface="Calibri" pitchFamily="34" charset="-120"/>
              </a:rPr>
              <a:t>Nhóm 4 thành viên  ·  2 Web Client  ·  2 Firmware/Wokwi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GIỚI THIỆU</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Tổng quan hệ thống</a:t>
            </a:r>
            <a:endParaRPr lang="en-US" sz="3000" dirty="0"/>
          </a:p>
        </p:txBody>
      </p:sp>
      <p:sp>
        <p:nvSpPr>
          <p:cNvPr id="6" name="Text 4"/>
          <p:cNvSpPr/>
          <p:nvPr/>
        </p:nvSpPr>
        <p:spPr>
          <a:xfrm>
            <a:off x="548640" y="1554480"/>
            <a:ext cx="5577840" cy="2103120"/>
          </a:xfrm>
          <a:prstGeom prst="rect">
            <a:avLst/>
          </a:prstGeom>
          <a:noFill/>
          <a:ln/>
        </p:spPr>
        <p:txBody>
          <a:bodyPr wrap="square" lIns="0" tIns="0" rIns="0" bIns="0" rtlCol="0" anchor="t"/>
          <a:lstStyle/>
          <a:p>
            <a:pPr marL="0" indent="0">
              <a:lnSpc>
                <a:spcPct val="125000"/>
              </a:lnSpc>
              <a:buNone/>
            </a:pPr>
            <a:r>
              <a:rPr lang="en-US" sz="1600" dirty="0">
                <a:solidFill>
                  <a:srgbClr val="FFFFFF"/>
                </a:solidFill>
                <a:latin typeface="Calibri" pitchFamily="34" charset="0"/>
                <a:ea typeface="Calibri" pitchFamily="34" charset="-122"/>
                <a:cs typeface="Calibri" pitchFamily="34" charset="-120"/>
              </a:rPr>
              <a:t>Hệ thống cho phép người dùng bật/tắt, chỉnh độ sáng và màu sắc của 6 bóng đèn trong nhà từ giao diện web. Lệnh điều khiển đi qua MQTT tới vi điều khiển ESP32 (mô phỏng trên Wokwi) để lái LED thật, và trạng thái được phản hồi ngược lại web theo thời gian thực.</a:t>
            </a:r>
            <a:endParaRPr lang="en-US" sz="1600" dirty="0"/>
          </a:p>
        </p:txBody>
      </p:sp>
      <p:sp>
        <p:nvSpPr>
          <p:cNvPr id="7" name="Text 5"/>
          <p:cNvSpPr/>
          <p:nvPr/>
        </p:nvSpPr>
        <p:spPr>
          <a:xfrm>
            <a:off x="548640" y="3749040"/>
            <a:ext cx="5577840" cy="1463040"/>
          </a:xfrm>
          <a:prstGeom prst="rect">
            <a:avLst/>
          </a:prstGeom>
          <a:noFill/>
          <a:ln/>
        </p:spPr>
        <p:txBody>
          <a:bodyPr wrap="square" lIns="0" tIns="0" rIns="0" bIns="0" rtlCol="0" anchor="t"/>
          <a:lstStyle/>
          <a:p>
            <a:pPr marL="0" indent="0">
              <a:lnSpc>
                <a:spcPct val="125000"/>
              </a:lnSpc>
              <a:buNone/>
            </a:pPr>
            <a:r>
              <a:rPr lang="en-US" sz="1500" dirty="0">
                <a:solidFill>
                  <a:srgbClr val="9AA7BD"/>
                </a:solidFill>
                <a:latin typeface="Calibri" pitchFamily="34" charset="0"/>
                <a:ea typeface="Calibri" pitchFamily="34" charset="-122"/>
                <a:cs typeface="Calibri" pitchFamily="34" charset="-120"/>
              </a:rPr>
              <a:t>Ngoài điều khiển, hệ thống còn giám sát môi trường (nhiệt độ / độ ẩm), tự động bật đèn theo chuyển động, và thống kê thời gian sử dụng đèn.</a:t>
            </a:r>
            <a:endParaRPr lang="en-US" sz="1500" dirty="0"/>
          </a:p>
        </p:txBody>
      </p:sp>
      <p:sp>
        <p:nvSpPr>
          <p:cNvPr id="8" name="Shape 6"/>
          <p:cNvSpPr/>
          <p:nvPr/>
        </p:nvSpPr>
        <p:spPr>
          <a:xfrm>
            <a:off x="6537960" y="1554480"/>
            <a:ext cx="2514600" cy="1874520"/>
          </a:xfrm>
          <a:prstGeom prst="roundRect">
            <a:avLst>
              <a:gd name="adj" fmla="val 5854"/>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9" name="Text 7"/>
          <p:cNvSpPr/>
          <p:nvPr/>
        </p:nvSpPr>
        <p:spPr>
          <a:xfrm>
            <a:off x="6537960" y="1783080"/>
            <a:ext cx="2514600" cy="914400"/>
          </a:xfrm>
          <a:prstGeom prst="rect">
            <a:avLst/>
          </a:prstGeom>
          <a:noFill/>
          <a:ln/>
        </p:spPr>
        <p:txBody>
          <a:bodyPr wrap="square" lIns="0" tIns="0" rIns="0" bIns="0" rtlCol="0" anchor="ctr"/>
          <a:lstStyle/>
          <a:p>
            <a:pPr marL="0" indent="0" algn="ctr">
              <a:buNone/>
            </a:pPr>
            <a:r>
              <a:rPr lang="en-US" sz="4800" b="1" dirty="0">
                <a:solidFill>
                  <a:srgbClr val="FFAA00"/>
                </a:solidFill>
                <a:latin typeface="Cambria" pitchFamily="34" charset="0"/>
                <a:ea typeface="Cambria" pitchFamily="34" charset="-122"/>
                <a:cs typeface="Cambria" pitchFamily="34" charset="-120"/>
              </a:rPr>
              <a:t>6</a:t>
            </a:r>
            <a:endParaRPr lang="en-US" sz="4800" dirty="0"/>
          </a:p>
        </p:txBody>
      </p:sp>
      <p:sp>
        <p:nvSpPr>
          <p:cNvPr id="10" name="Text 8"/>
          <p:cNvSpPr/>
          <p:nvPr/>
        </p:nvSpPr>
        <p:spPr>
          <a:xfrm>
            <a:off x="6675120" y="2743200"/>
            <a:ext cx="2240280" cy="54864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bóng đèn</a:t>
            </a:r>
            <a:endParaRPr lang="en-US" sz="1400" dirty="0"/>
          </a:p>
        </p:txBody>
      </p:sp>
      <p:sp>
        <p:nvSpPr>
          <p:cNvPr id="11" name="Shape 9"/>
          <p:cNvSpPr/>
          <p:nvPr/>
        </p:nvSpPr>
        <p:spPr>
          <a:xfrm>
            <a:off x="9372600" y="1554480"/>
            <a:ext cx="2514600" cy="1874520"/>
          </a:xfrm>
          <a:prstGeom prst="roundRect">
            <a:avLst>
              <a:gd name="adj" fmla="val 5854"/>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2" name="Text 10"/>
          <p:cNvSpPr/>
          <p:nvPr/>
        </p:nvSpPr>
        <p:spPr>
          <a:xfrm>
            <a:off x="9372600" y="1783080"/>
            <a:ext cx="2514600" cy="914400"/>
          </a:xfrm>
          <a:prstGeom prst="rect">
            <a:avLst/>
          </a:prstGeom>
          <a:noFill/>
          <a:ln/>
        </p:spPr>
        <p:txBody>
          <a:bodyPr wrap="square" lIns="0" tIns="0" rIns="0" bIns="0" rtlCol="0" anchor="ctr"/>
          <a:lstStyle/>
          <a:p>
            <a:pPr marL="0" indent="0" algn="ctr">
              <a:buNone/>
            </a:pPr>
            <a:r>
              <a:rPr lang="en-US" sz="4800" b="1" dirty="0">
                <a:solidFill>
                  <a:srgbClr val="4F9CFF"/>
                </a:solidFill>
                <a:latin typeface="Cambria" pitchFamily="34" charset="0"/>
                <a:ea typeface="Cambria" pitchFamily="34" charset="-122"/>
                <a:cs typeface="Cambria" pitchFamily="34" charset="-120"/>
              </a:rPr>
              <a:t>4</a:t>
            </a:r>
            <a:endParaRPr lang="en-US" sz="4800" dirty="0"/>
          </a:p>
        </p:txBody>
      </p:sp>
      <p:sp>
        <p:nvSpPr>
          <p:cNvPr id="13" name="Text 11"/>
          <p:cNvSpPr/>
          <p:nvPr/>
        </p:nvSpPr>
        <p:spPr>
          <a:xfrm>
            <a:off x="9509760" y="2743200"/>
            <a:ext cx="2240280" cy="54864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phòng</a:t>
            </a:r>
            <a:endParaRPr lang="en-US" sz="1400" dirty="0"/>
          </a:p>
        </p:txBody>
      </p:sp>
      <p:sp>
        <p:nvSpPr>
          <p:cNvPr id="14" name="Shape 12"/>
          <p:cNvSpPr/>
          <p:nvPr/>
        </p:nvSpPr>
        <p:spPr>
          <a:xfrm>
            <a:off x="6537960" y="3749040"/>
            <a:ext cx="2514600" cy="1874520"/>
          </a:xfrm>
          <a:prstGeom prst="roundRect">
            <a:avLst>
              <a:gd name="adj" fmla="val 5854"/>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5" name="Text 13"/>
          <p:cNvSpPr/>
          <p:nvPr/>
        </p:nvSpPr>
        <p:spPr>
          <a:xfrm>
            <a:off x="6537960" y="3977640"/>
            <a:ext cx="2514600" cy="914400"/>
          </a:xfrm>
          <a:prstGeom prst="rect">
            <a:avLst/>
          </a:prstGeom>
          <a:noFill/>
          <a:ln/>
        </p:spPr>
        <p:txBody>
          <a:bodyPr wrap="square" lIns="0" tIns="0" rIns="0" bIns="0" rtlCol="0" anchor="ctr"/>
          <a:lstStyle/>
          <a:p>
            <a:pPr marL="0" indent="0" algn="ctr">
              <a:buNone/>
            </a:pPr>
            <a:r>
              <a:rPr lang="en-US" sz="4800" b="1" dirty="0">
                <a:solidFill>
                  <a:srgbClr val="B07CFF"/>
                </a:solidFill>
                <a:latin typeface="Cambria" pitchFamily="34" charset="0"/>
                <a:ea typeface="Cambria" pitchFamily="34" charset="-122"/>
                <a:cs typeface="Cambria" pitchFamily="34" charset="-120"/>
              </a:rPr>
              <a:t>3</a:t>
            </a:r>
            <a:endParaRPr lang="en-US" sz="4800" dirty="0"/>
          </a:p>
        </p:txBody>
      </p:sp>
      <p:sp>
        <p:nvSpPr>
          <p:cNvPr id="16" name="Text 14"/>
          <p:cNvSpPr/>
          <p:nvPr/>
        </p:nvSpPr>
        <p:spPr>
          <a:xfrm>
            <a:off x="6675120" y="4937760"/>
            <a:ext cx="2240280" cy="54864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tông màu RGB</a:t>
            </a:r>
            <a:endParaRPr lang="en-US" sz="1400" dirty="0"/>
          </a:p>
        </p:txBody>
      </p:sp>
      <p:sp>
        <p:nvSpPr>
          <p:cNvPr id="17" name="Shape 15"/>
          <p:cNvSpPr/>
          <p:nvPr/>
        </p:nvSpPr>
        <p:spPr>
          <a:xfrm>
            <a:off x="9372600" y="3749040"/>
            <a:ext cx="2514600" cy="1874520"/>
          </a:xfrm>
          <a:prstGeom prst="roundRect">
            <a:avLst>
              <a:gd name="adj" fmla="val 5854"/>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8" name="Text 16"/>
          <p:cNvSpPr/>
          <p:nvPr/>
        </p:nvSpPr>
        <p:spPr>
          <a:xfrm>
            <a:off x="9372600" y="3977640"/>
            <a:ext cx="2514600" cy="914400"/>
          </a:xfrm>
          <a:prstGeom prst="rect">
            <a:avLst/>
          </a:prstGeom>
          <a:noFill/>
          <a:ln/>
        </p:spPr>
        <p:txBody>
          <a:bodyPr wrap="square" lIns="0" tIns="0" rIns="0" bIns="0" rtlCol="0" anchor="ctr"/>
          <a:lstStyle/>
          <a:p>
            <a:pPr marL="0" indent="0" algn="ctr">
              <a:buNone/>
            </a:pPr>
            <a:r>
              <a:rPr lang="en-US" sz="4800" b="1" dirty="0">
                <a:solidFill>
                  <a:srgbClr val="4FE0A3"/>
                </a:solidFill>
                <a:latin typeface="Cambria" pitchFamily="34" charset="0"/>
                <a:ea typeface="Cambria" pitchFamily="34" charset="-122"/>
                <a:cs typeface="Cambria" pitchFamily="34" charset="-120"/>
              </a:rPr>
              <a:t>2</a:t>
            </a:r>
            <a:endParaRPr lang="en-US" sz="4800" dirty="0"/>
          </a:p>
        </p:txBody>
      </p:sp>
      <p:sp>
        <p:nvSpPr>
          <p:cNvPr id="19" name="Text 17"/>
          <p:cNvSpPr/>
          <p:nvPr/>
        </p:nvSpPr>
        <p:spPr>
          <a:xfrm>
            <a:off x="9509760" y="4937760"/>
            <a:ext cx="2240280" cy="54864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cảm biến (PIR, DHT22)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LUỒNG DỮ LIỆU</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Kiến trúc pub/sub qua MQTT</a:t>
            </a:r>
            <a:endParaRPr lang="en-US" sz="3000" dirty="0"/>
          </a:p>
        </p:txBody>
      </p:sp>
      <p:sp>
        <p:nvSpPr>
          <p:cNvPr id="6" name="Shape 4"/>
          <p:cNvSpPr/>
          <p:nvPr/>
        </p:nvSpPr>
        <p:spPr>
          <a:xfrm>
            <a:off x="640080" y="2011680"/>
            <a:ext cx="3017520" cy="1371600"/>
          </a:xfrm>
          <a:prstGeom prst="roundRect">
            <a:avLst>
              <a:gd name="adj" fmla="val 9333"/>
            </a:avLst>
          </a:prstGeom>
          <a:solidFill>
            <a:srgbClr val="1B2335"/>
          </a:solidFill>
          <a:ln w="25400">
            <a:solidFill>
              <a:srgbClr val="4F9CFF"/>
            </a:solidFill>
            <a:prstDash val="solid"/>
          </a:ln>
          <a:effectLst>
            <a:outerShdw blurRad="127000" dist="38100" dir="5400000" algn="bl" rotWithShape="0">
              <a:srgbClr val="000000">
                <a:alpha val="35000"/>
              </a:srgbClr>
            </a:outerShdw>
          </a:effectLst>
        </p:spPr>
      </p:sp>
      <p:sp>
        <p:nvSpPr>
          <p:cNvPr id="7" name="Shape 5"/>
          <p:cNvSpPr/>
          <p:nvPr/>
        </p:nvSpPr>
        <p:spPr>
          <a:xfrm>
            <a:off x="914400" y="2331720"/>
            <a:ext cx="502920" cy="502920"/>
          </a:xfrm>
          <a:prstGeom prst="ellipse">
            <a:avLst/>
          </a:prstGeom>
          <a:solidFill>
            <a:srgbClr val="4F9CFF"/>
          </a:solidFill>
          <a:ln/>
        </p:spPr>
      </p:sp>
      <p:sp>
        <p:nvSpPr>
          <p:cNvPr id="8" name="Text 6"/>
          <p:cNvSpPr/>
          <p:nvPr/>
        </p:nvSpPr>
        <p:spPr>
          <a:xfrm>
            <a:off x="1554480" y="2267712"/>
            <a:ext cx="201168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Web Client</a:t>
            </a:r>
            <a:endParaRPr lang="en-US" sz="1900" dirty="0"/>
          </a:p>
        </p:txBody>
      </p:sp>
      <p:sp>
        <p:nvSpPr>
          <p:cNvPr id="9" name="Text 7"/>
          <p:cNvSpPr/>
          <p:nvPr/>
        </p:nvSpPr>
        <p:spPr>
          <a:xfrm>
            <a:off x="1554480" y="2724912"/>
            <a:ext cx="2011680" cy="365760"/>
          </a:xfrm>
          <a:prstGeom prst="rect">
            <a:avLst/>
          </a:prstGeom>
          <a:noFill/>
          <a:ln/>
        </p:spPr>
        <p:txBody>
          <a:bodyPr wrap="square" lIns="0" tIns="0" rIns="0" bIns="0" rtlCol="0" anchor="ctr"/>
          <a:lstStyle/>
          <a:p>
            <a:pPr marL="0" indent="0">
              <a:buNone/>
            </a:pPr>
            <a:r>
              <a:rPr lang="en-US" sz="1200" dirty="0">
                <a:solidFill>
                  <a:srgbClr val="9AA7BD"/>
                </a:solidFill>
                <a:latin typeface="Calibri" pitchFamily="34" charset="0"/>
                <a:ea typeface="Calibri" pitchFamily="34" charset="-122"/>
                <a:cs typeface="Calibri" pitchFamily="34" charset="-120"/>
              </a:rPr>
              <a:t>React + Paho MQTT</a:t>
            </a:r>
            <a:endParaRPr lang="en-US" sz="1200" dirty="0"/>
          </a:p>
        </p:txBody>
      </p:sp>
      <p:sp>
        <p:nvSpPr>
          <p:cNvPr id="10" name="Shape 8"/>
          <p:cNvSpPr/>
          <p:nvPr/>
        </p:nvSpPr>
        <p:spPr>
          <a:xfrm>
            <a:off x="4572000" y="2011680"/>
            <a:ext cx="3017520" cy="1371600"/>
          </a:xfrm>
          <a:prstGeom prst="roundRect">
            <a:avLst>
              <a:gd name="adj" fmla="val 9333"/>
            </a:avLst>
          </a:prstGeom>
          <a:solidFill>
            <a:srgbClr val="1B2335"/>
          </a:solidFill>
          <a:ln w="25400">
            <a:solidFill>
              <a:srgbClr val="FFAA00"/>
            </a:solidFill>
            <a:prstDash val="solid"/>
          </a:ln>
          <a:effectLst>
            <a:outerShdw blurRad="127000" dist="38100" dir="5400000" algn="bl" rotWithShape="0">
              <a:srgbClr val="000000">
                <a:alpha val="35000"/>
              </a:srgbClr>
            </a:outerShdw>
          </a:effectLst>
        </p:spPr>
      </p:sp>
      <p:sp>
        <p:nvSpPr>
          <p:cNvPr id="11" name="Shape 9"/>
          <p:cNvSpPr/>
          <p:nvPr/>
        </p:nvSpPr>
        <p:spPr>
          <a:xfrm>
            <a:off x="4846320" y="2331720"/>
            <a:ext cx="502920" cy="502920"/>
          </a:xfrm>
          <a:prstGeom prst="ellipse">
            <a:avLst/>
          </a:prstGeom>
          <a:solidFill>
            <a:srgbClr val="FFAA00"/>
          </a:solidFill>
          <a:ln/>
        </p:spPr>
      </p:sp>
      <p:sp>
        <p:nvSpPr>
          <p:cNvPr id="12" name="Text 10"/>
          <p:cNvSpPr/>
          <p:nvPr/>
        </p:nvSpPr>
        <p:spPr>
          <a:xfrm>
            <a:off x="5486400" y="2267712"/>
            <a:ext cx="201168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MQTT Broker</a:t>
            </a:r>
            <a:endParaRPr lang="en-US" sz="1900" dirty="0"/>
          </a:p>
        </p:txBody>
      </p:sp>
      <p:sp>
        <p:nvSpPr>
          <p:cNvPr id="13" name="Text 11"/>
          <p:cNvSpPr/>
          <p:nvPr/>
        </p:nvSpPr>
        <p:spPr>
          <a:xfrm>
            <a:off x="5486400" y="2724912"/>
            <a:ext cx="2011680" cy="365760"/>
          </a:xfrm>
          <a:prstGeom prst="rect">
            <a:avLst/>
          </a:prstGeom>
          <a:noFill/>
          <a:ln/>
        </p:spPr>
        <p:txBody>
          <a:bodyPr wrap="square" lIns="0" tIns="0" rIns="0" bIns="0" rtlCol="0" anchor="ctr"/>
          <a:lstStyle/>
          <a:p>
            <a:pPr marL="0" indent="0">
              <a:buNone/>
            </a:pPr>
            <a:r>
              <a:rPr lang="en-US" sz="1200" dirty="0">
                <a:solidFill>
                  <a:srgbClr val="9AA7BD"/>
                </a:solidFill>
                <a:latin typeface="Calibri" pitchFamily="34" charset="0"/>
                <a:ea typeface="Calibri" pitchFamily="34" charset="-122"/>
                <a:cs typeface="Calibri" pitchFamily="34" charset="-120"/>
              </a:rPr>
              <a:t>EMQX (TLS 8883)</a:t>
            </a:r>
            <a:endParaRPr lang="en-US" sz="1200" dirty="0"/>
          </a:p>
        </p:txBody>
      </p:sp>
      <p:sp>
        <p:nvSpPr>
          <p:cNvPr id="14" name="Shape 12"/>
          <p:cNvSpPr/>
          <p:nvPr/>
        </p:nvSpPr>
        <p:spPr>
          <a:xfrm>
            <a:off x="8503920" y="2011680"/>
            <a:ext cx="3017520" cy="1371600"/>
          </a:xfrm>
          <a:prstGeom prst="roundRect">
            <a:avLst>
              <a:gd name="adj" fmla="val 9333"/>
            </a:avLst>
          </a:prstGeom>
          <a:solidFill>
            <a:srgbClr val="1B2335"/>
          </a:solidFill>
          <a:ln w="25400">
            <a:solidFill>
              <a:srgbClr val="4FE0A3"/>
            </a:solidFill>
            <a:prstDash val="solid"/>
          </a:ln>
          <a:effectLst>
            <a:outerShdw blurRad="127000" dist="38100" dir="5400000" algn="bl" rotWithShape="0">
              <a:srgbClr val="000000">
                <a:alpha val="35000"/>
              </a:srgbClr>
            </a:outerShdw>
          </a:effectLst>
        </p:spPr>
      </p:sp>
      <p:sp>
        <p:nvSpPr>
          <p:cNvPr id="15" name="Shape 13"/>
          <p:cNvSpPr/>
          <p:nvPr/>
        </p:nvSpPr>
        <p:spPr>
          <a:xfrm>
            <a:off x="8778240" y="2331720"/>
            <a:ext cx="502920" cy="502920"/>
          </a:xfrm>
          <a:prstGeom prst="ellipse">
            <a:avLst/>
          </a:prstGeom>
          <a:solidFill>
            <a:srgbClr val="4FE0A3"/>
          </a:solidFill>
          <a:ln/>
        </p:spPr>
      </p:sp>
      <p:sp>
        <p:nvSpPr>
          <p:cNvPr id="16" name="Text 14"/>
          <p:cNvSpPr/>
          <p:nvPr/>
        </p:nvSpPr>
        <p:spPr>
          <a:xfrm>
            <a:off x="9418320" y="2267712"/>
            <a:ext cx="201168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ESP32</a:t>
            </a:r>
            <a:endParaRPr lang="en-US" sz="1900" dirty="0"/>
          </a:p>
        </p:txBody>
      </p:sp>
      <p:sp>
        <p:nvSpPr>
          <p:cNvPr id="17" name="Text 15"/>
          <p:cNvSpPr/>
          <p:nvPr/>
        </p:nvSpPr>
        <p:spPr>
          <a:xfrm>
            <a:off x="9418320" y="2724912"/>
            <a:ext cx="2011680" cy="365760"/>
          </a:xfrm>
          <a:prstGeom prst="rect">
            <a:avLst/>
          </a:prstGeom>
          <a:noFill/>
          <a:ln/>
        </p:spPr>
        <p:txBody>
          <a:bodyPr wrap="square" lIns="0" tIns="0" rIns="0" bIns="0" rtlCol="0" anchor="ctr"/>
          <a:lstStyle/>
          <a:p>
            <a:pPr marL="0" indent="0">
              <a:buNone/>
            </a:pPr>
            <a:r>
              <a:rPr lang="en-US" sz="1200" dirty="0">
                <a:solidFill>
                  <a:srgbClr val="9AA7BD"/>
                </a:solidFill>
                <a:latin typeface="Calibri" pitchFamily="34" charset="0"/>
                <a:ea typeface="Calibri" pitchFamily="34" charset="-122"/>
                <a:cs typeface="Calibri" pitchFamily="34" charset="-120"/>
              </a:rPr>
              <a:t>Wokwi Simulator</a:t>
            </a:r>
            <a:endParaRPr lang="en-US" sz="1200" dirty="0"/>
          </a:p>
        </p:txBody>
      </p:sp>
      <p:sp>
        <p:nvSpPr>
          <p:cNvPr id="18" name="Shape 16"/>
          <p:cNvSpPr/>
          <p:nvPr/>
        </p:nvSpPr>
        <p:spPr>
          <a:xfrm>
            <a:off x="3703320" y="2532888"/>
            <a:ext cx="822960" cy="0"/>
          </a:xfrm>
          <a:prstGeom prst="line">
            <a:avLst/>
          </a:prstGeom>
          <a:noFill/>
          <a:ln w="31750">
            <a:solidFill>
              <a:srgbClr val="FFAA00"/>
            </a:solidFill>
            <a:prstDash val="solid"/>
            <a:tailEnd type="triangle"/>
          </a:ln>
        </p:spPr>
      </p:sp>
      <p:sp>
        <p:nvSpPr>
          <p:cNvPr id="19" name="Shape 17"/>
          <p:cNvSpPr/>
          <p:nvPr/>
        </p:nvSpPr>
        <p:spPr>
          <a:xfrm>
            <a:off x="3703320" y="2825961"/>
            <a:ext cx="822960" cy="0"/>
          </a:xfrm>
          <a:prstGeom prst="line">
            <a:avLst/>
          </a:prstGeom>
          <a:noFill/>
          <a:ln w="31750">
            <a:solidFill>
              <a:srgbClr val="4F9CFF"/>
            </a:solidFill>
            <a:prstDash val="solid"/>
            <a:headEnd type="triangle"/>
          </a:ln>
        </p:spPr>
      </p:sp>
      <p:sp>
        <p:nvSpPr>
          <p:cNvPr id="20" name="Shape 18"/>
          <p:cNvSpPr/>
          <p:nvPr/>
        </p:nvSpPr>
        <p:spPr>
          <a:xfrm>
            <a:off x="7635240" y="2532888"/>
            <a:ext cx="822960" cy="0"/>
          </a:xfrm>
          <a:prstGeom prst="line">
            <a:avLst/>
          </a:prstGeom>
          <a:noFill/>
          <a:ln w="31750">
            <a:solidFill>
              <a:srgbClr val="FFAA00"/>
            </a:solidFill>
            <a:prstDash val="solid"/>
            <a:tailEnd type="triangle"/>
          </a:ln>
        </p:spPr>
      </p:sp>
      <p:sp>
        <p:nvSpPr>
          <p:cNvPr id="21" name="Shape 19"/>
          <p:cNvSpPr/>
          <p:nvPr/>
        </p:nvSpPr>
        <p:spPr>
          <a:xfrm>
            <a:off x="7635240" y="2810153"/>
            <a:ext cx="822960" cy="0"/>
          </a:xfrm>
          <a:prstGeom prst="line">
            <a:avLst/>
          </a:prstGeom>
          <a:noFill/>
          <a:ln w="31750">
            <a:solidFill>
              <a:srgbClr val="4FE0A3"/>
            </a:solidFill>
            <a:prstDash val="solid"/>
            <a:headEnd type="triangle"/>
          </a:ln>
        </p:spPr>
      </p:sp>
      <p:sp>
        <p:nvSpPr>
          <p:cNvPr id="22" name="Text 20"/>
          <p:cNvSpPr/>
          <p:nvPr/>
        </p:nvSpPr>
        <p:spPr>
          <a:xfrm>
            <a:off x="3429000" y="1600200"/>
            <a:ext cx="1828800" cy="274320"/>
          </a:xfrm>
          <a:prstGeom prst="rect">
            <a:avLst/>
          </a:prstGeom>
          <a:noFill/>
          <a:ln/>
        </p:spPr>
        <p:txBody>
          <a:bodyPr wrap="square" lIns="0" tIns="0" rIns="0" bIns="0" rtlCol="0" anchor="ctr"/>
          <a:lstStyle/>
          <a:p>
            <a:pPr marL="0" indent="0" algn="ctr">
              <a:buNone/>
            </a:pPr>
            <a:r>
              <a:rPr lang="en-US" sz="1100" dirty="0">
                <a:solidFill>
                  <a:srgbClr val="FFAA00"/>
                </a:solidFill>
                <a:latin typeface="Calibri" pitchFamily="34" charset="0"/>
                <a:ea typeface="Calibri" pitchFamily="34" charset="-122"/>
                <a:cs typeface="Calibri" pitchFamily="34" charset="-120"/>
              </a:rPr>
              <a:t>esp32/control  →</a:t>
            </a:r>
            <a:endParaRPr lang="en-US" sz="1100" dirty="0"/>
          </a:p>
        </p:txBody>
      </p:sp>
      <p:sp>
        <p:nvSpPr>
          <p:cNvPr id="23" name="Text 21"/>
          <p:cNvSpPr/>
          <p:nvPr/>
        </p:nvSpPr>
        <p:spPr>
          <a:xfrm>
            <a:off x="3429000" y="3429000"/>
            <a:ext cx="1828800" cy="274320"/>
          </a:xfrm>
          <a:prstGeom prst="rect">
            <a:avLst/>
          </a:prstGeom>
          <a:noFill/>
          <a:ln/>
        </p:spPr>
        <p:txBody>
          <a:bodyPr wrap="square" lIns="0" tIns="0" rIns="0" bIns="0" rtlCol="0" anchor="ctr"/>
          <a:lstStyle/>
          <a:p>
            <a:pPr marL="0" indent="0" algn="ctr">
              <a:buNone/>
            </a:pPr>
            <a:r>
              <a:rPr lang="en-US" sz="1100" dirty="0">
                <a:solidFill>
                  <a:srgbClr val="4F9CFF"/>
                </a:solidFill>
                <a:latin typeface="Calibri" pitchFamily="34" charset="0"/>
                <a:ea typeface="Calibri" pitchFamily="34" charset="-122"/>
                <a:cs typeface="Calibri" pitchFamily="34" charset="-120"/>
              </a:rPr>
              <a:t>←  esp32/status</a:t>
            </a:r>
            <a:endParaRPr lang="en-US" sz="1100" dirty="0"/>
          </a:p>
        </p:txBody>
      </p:sp>
      <p:sp>
        <p:nvSpPr>
          <p:cNvPr id="24" name="Shape 22"/>
          <p:cNvSpPr/>
          <p:nvPr/>
        </p:nvSpPr>
        <p:spPr>
          <a:xfrm>
            <a:off x="10012680" y="3383280"/>
            <a:ext cx="0" cy="914400"/>
          </a:xfrm>
          <a:prstGeom prst="line">
            <a:avLst/>
          </a:prstGeom>
          <a:noFill/>
          <a:ln w="31750">
            <a:solidFill>
              <a:srgbClr val="B07CFF"/>
            </a:solidFill>
            <a:prstDash val="solid"/>
            <a:tailEnd type="triangle"/>
          </a:ln>
        </p:spPr>
      </p:sp>
      <p:sp>
        <p:nvSpPr>
          <p:cNvPr id="25" name="Shape 23"/>
          <p:cNvSpPr/>
          <p:nvPr/>
        </p:nvSpPr>
        <p:spPr>
          <a:xfrm>
            <a:off x="8503920" y="4434840"/>
            <a:ext cx="3017520" cy="1005840"/>
          </a:xfrm>
          <a:prstGeom prst="roundRect">
            <a:avLst>
              <a:gd name="adj" fmla="val 10909"/>
            </a:avLst>
          </a:prstGeom>
          <a:solidFill>
            <a:srgbClr val="1B2335"/>
          </a:solidFill>
          <a:ln w="25400">
            <a:solidFill>
              <a:srgbClr val="B07CFF"/>
            </a:solidFill>
            <a:prstDash val="solid"/>
          </a:ln>
          <a:effectLst>
            <a:outerShdw blurRad="127000" dist="38100" dir="5400000" algn="bl" rotWithShape="0">
              <a:srgbClr val="000000">
                <a:alpha val="35000"/>
              </a:srgbClr>
            </a:outerShdw>
          </a:effectLst>
        </p:spPr>
      </p:sp>
      <p:sp>
        <p:nvSpPr>
          <p:cNvPr id="26" name="Text 24"/>
          <p:cNvSpPr/>
          <p:nvPr/>
        </p:nvSpPr>
        <p:spPr>
          <a:xfrm>
            <a:off x="8503920" y="4590288"/>
            <a:ext cx="301752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ThingSpeak</a:t>
            </a:r>
            <a:endParaRPr lang="en-US" sz="1700" dirty="0"/>
          </a:p>
        </p:txBody>
      </p:sp>
      <p:sp>
        <p:nvSpPr>
          <p:cNvPr id="27" name="Text 25"/>
          <p:cNvSpPr/>
          <p:nvPr/>
        </p:nvSpPr>
        <p:spPr>
          <a:xfrm>
            <a:off x="8503920" y="4956048"/>
            <a:ext cx="3017520" cy="320040"/>
          </a:xfrm>
          <a:prstGeom prst="rect">
            <a:avLst/>
          </a:prstGeom>
          <a:noFill/>
          <a:ln/>
        </p:spPr>
        <p:txBody>
          <a:bodyPr wrap="square" lIns="0" tIns="0" rIns="0" bIns="0" rtlCol="0" anchor="ctr"/>
          <a:lstStyle/>
          <a:p>
            <a:pPr marL="0" indent="0" algn="ctr">
              <a:buNone/>
            </a:pPr>
            <a:r>
              <a:rPr lang="en-US" sz="1100" dirty="0">
                <a:solidFill>
                  <a:srgbClr val="9AA7BD"/>
                </a:solidFill>
                <a:latin typeface="Calibri" pitchFamily="34" charset="0"/>
                <a:ea typeface="Calibri" pitchFamily="34" charset="-122"/>
                <a:cs typeface="Calibri" pitchFamily="34" charset="-120"/>
              </a:rPr>
              <a:t>Log thời gian dùng đèn (mỗi 60s)</a:t>
            </a:r>
            <a:endParaRPr lang="en-US" sz="1100" dirty="0"/>
          </a:p>
        </p:txBody>
      </p:sp>
      <p:sp>
        <p:nvSpPr>
          <p:cNvPr id="28" name="Text 26"/>
          <p:cNvSpPr/>
          <p:nvPr/>
        </p:nvSpPr>
        <p:spPr>
          <a:xfrm>
            <a:off x="640080" y="5760720"/>
            <a:ext cx="7315200" cy="640080"/>
          </a:xfrm>
          <a:prstGeom prst="rect">
            <a:avLst/>
          </a:prstGeom>
          <a:noFill/>
          <a:ln/>
        </p:spPr>
        <p:txBody>
          <a:bodyPr wrap="square" lIns="0" tIns="0" rIns="0" bIns="0" rtlCol="0" anchor="t"/>
          <a:lstStyle/>
          <a:p>
            <a:pPr marL="0" indent="0">
              <a:buNone/>
            </a:pPr>
            <a:r>
              <a:rPr lang="en-US" sz="1400" i="1" dirty="0">
                <a:solidFill>
                  <a:srgbClr val="9AA7BD"/>
                </a:solidFill>
                <a:latin typeface="Calibri" pitchFamily="34" charset="0"/>
                <a:ea typeface="Calibri" pitchFamily="34" charset="-122"/>
                <a:cs typeface="Calibri" pitchFamily="34" charset="-120"/>
              </a:rPr>
              <a:t>Đèn được xác định bằng trường "light_id" trong body JSON — dùng chung 2 topic cho cả 6 đèn thay vì mỗi đèn một topic.</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TECH STACK</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Công nghệ sử dụng</a:t>
            </a:r>
            <a:endParaRPr lang="en-US" sz="3000" dirty="0"/>
          </a:p>
        </p:txBody>
      </p:sp>
      <p:sp>
        <p:nvSpPr>
          <p:cNvPr id="6" name="Shape 4"/>
          <p:cNvSpPr/>
          <p:nvPr/>
        </p:nvSpPr>
        <p:spPr>
          <a:xfrm>
            <a:off x="548640" y="1600200"/>
            <a:ext cx="361188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7" name="Shape 5"/>
          <p:cNvSpPr/>
          <p:nvPr/>
        </p:nvSpPr>
        <p:spPr>
          <a:xfrm>
            <a:off x="868680" y="1920240"/>
            <a:ext cx="640080" cy="640080"/>
          </a:xfrm>
          <a:prstGeom prst="ellipse">
            <a:avLst/>
          </a:prstGeom>
          <a:solidFill>
            <a:srgbClr val="FFAA00"/>
          </a:solidFill>
          <a:ln/>
        </p:spPr>
      </p:sp>
      <p:sp>
        <p:nvSpPr>
          <p:cNvPr id="8" name="Shape 6"/>
          <p:cNvSpPr/>
          <p:nvPr/>
        </p:nvSpPr>
        <p:spPr>
          <a:xfrm>
            <a:off x="1024128" y="2075688"/>
            <a:ext cx="329184" cy="329184"/>
          </a:xfrm>
          <a:prstGeom prst="ellipse">
            <a:avLst/>
          </a:prstGeom>
          <a:solidFill>
            <a:srgbClr val="0F1420"/>
          </a:solidFill>
          <a:ln/>
        </p:spPr>
      </p:sp>
      <p:sp>
        <p:nvSpPr>
          <p:cNvPr id="9" name="Text 7"/>
          <p:cNvSpPr/>
          <p:nvPr/>
        </p:nvSpPr>
        <p:spPr>
          <a:xfrm>
            <a:off x="868680" y="269748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EMQX Serverless</a:t>
            </a:r>
            <a:endParaRPr lang="en-US" sz="1800" dirty="0"/>
          </a:p>
        </p:txBody>
      </p:sp>
      <p:sp>
        <p:nvSpPr>
          <p:cNvPr id="10" name="Text 8"/>
          <p:cNvSpPr/>
          <p:nvPr/>
        </p:nvSpPr>
        <p:spPr>
          <a:xfrm>
            <a:off x="868680" y="3172968"/>
            <a:ext cx="2971800" cy="502920"/>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MQTT broker qua TLS (port 8883)</a:t>
            </a:r>
            <a:endParaRPr lang="en-US" sz="1300" dirty="0"/>
          </a:p>
        </p:txBody>
      </p:sp>
      <p:sp>
        <p:nvSpPr>
          <p:cNvPr id="11" name="Shape 9"/>
          <p:cNvSpPr/>
          <p:nvPr/>
        </p:nvSpPr>
        <p:spPr>
          <a:xfrm>
            <a:off x="4416552" y="1600200"/>
            <a:ext cx="361188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2" name="Shape 10"/>
          <p:cNvSpPr/>
          <p:nvPr/>
        </p:nvSpPr>
        <p:spPr>
          <a:xfrm>
            <a:off x="4736592" y="1920240"/>
            <a:ext cx="640080" cy="640080"/>
          </a:xfrm>
          <a:prstGeom prst="ellipse">
            <a:avLst/>
          </a:prstGeom>
          <a:solidFill>
            <a:srgbClr val="4FE0A3"/>
          </a:solidFill>
          <a:ln/>
        </p:spPr>
      </p:sp>
      <p:sp>
        <p:nvSpPr>
          <p:cNvPr id="13" name="Shape 11"/>
          <p:cNvSpPr/>
          <p:nvPr/>
        </p:nvSpPr>
        <p:spPr>
          <a:xfrm>
            <a:off x="4892040" y="2075688"/>
            <a:ext cx="329184" cy="329184"/>
          </a:xfrm>
          <a:prstGeom prst="ellipse">
            <a:avLst/>
          </a:prstGeom>
          <a:solidFill>
            <a:srgbClr val="0F1420"/>
          </a:solidFill>
          <a:ln/>
        </p:spPr>
      </p:sp>
      <p:sp>
        <p:nvSpPr>
          <p:cNvPr id="14" name="Text 12"/>
          <p:cNvSpPr/>
          <p:nvPr/>
        </p:nvSpPr>
        <p:spPr>
          <a:xfrm>
            <a:off x="4736592" y="269748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ESP32 + PlatformIO</a:t>
            </a:r>
            <a:endParaRPr lang="en-US" sz="1800" dirty="0"/>
          </a:p>
        </p:txBody>
      </p:sp>
      <p:sp>
        <p:nvSpPr>
          <p:cNvPr id="15" name="Text 13"/>
          <p:cNvSpPr/>
          <p:nvPr/>
        </p:nvSpPr>
        <p:spPr>
          <a:xfrm>
            <a:off x="4736592" y="3172968"/>
            <a:ext cx="2971800" cy="502920"/>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Firmware C++, mô phỏng Wokwi</a:t>
            </a:r>
            <a:endParaRPr lang="en-US" sz="1300" dirty="0"/>
          </a:p>
        </p:txBody>
      </p:sp>
      <p:sp>
        <p:nvSpPr>
          <p:cNvPr id="16" name="Shape 14"/>
          <p:cNvSpPr/>
          <p:nvPr/>
        </p:nvSpPr>
        <p:spPr>
          <a:xfrm>
            <a:off x="8284464" y="1600200"/>
            <a:ext cx="361188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7" name="Shape 15"/>
          <p:cNvSpPr/>
          <p:nvPr/>
        </p:nvSpPr>
        <p:spPr>
          <a:xfrm>
            <a:off x="8604504" y="1920240"/>
            <a:ext cx="640080" cy="640080"/>
          </a:xfrm>
          <a:prstGeom prst="ellipse">
            <a:avLst/>
          </a:prstGeom>
          <a:solidFill>
            <a:srgbClr val="4F9CFF"/>
          </a:solidFill>
          <a:ln/>
        </p:spPr>
      </p:sp>
      <p:sp>
        <p:nvSpPr>
          <p:cNvPr id="18" name="Shape 16"/>
          <p:cNvSpPr/>
          <p:nvPr/>
        </p:nvSpPr>
        <p:spPr>
          <a:xfrm>
            <a:off x="8759952" y="2075688"/>
            <a:ext cx="329184" cy="329184"/>
          </a:xfrm>
          <a:prstGeom prst="ellipse">
            <a:avLst/>
          </a:prstGeom>
          <a:solidFill>
            <a:srgbClr val="0F1420"/>
          </a:solidFill>
          <a:ln/>
        </p:spPr>
      </p:sp>
      <p:sp>
        <p:nvSpPr>
          <p:cNvPr id="19" name="Text 17"/>
          <p:cNvSpPr/>
          <p:nvPr/>
        </p:nvSpPr>
        <p:spPr>
          <a:xfrm>
            <a:off x="8604504" y="269748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React 19 + Vite</a:t>
            </a:r>
            <a:endParaRPr lang="en-US" sz="1800" dirty="0"/>
          </a:p>
        </p:txBody>
      </p:sp>
      <p:sp>
        <p:nvSpPr>
          <p:cNvPr id="20" name="Text 18"/>
          <p:cNvSpPr/>
          <p:nvPr/>
        </p:nvSpPr>
        <p:spPr>
          <a:xfrm>
            <a:off x="8604504" y="3172968"/>
            <a:ext cx="2971800" cy="502920"/>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Giao diện web, Paho MQTT client</a:t>
            </a:r>
            <a:endParaRPr lang="en-US" sz="1300" dirty="0"/>
          </a:p>
        </p:txBody>
      </p:sp>
      <p:sp>
        <p:nvSpPr>
          <p:cNvPr id="21" name="Shape 19"/>
          <p:cNvSpPr/>
          <p:nvPr/>
        </p:nvSpPr>
        <p:spPr>
          <a:xfrm>
            <a:off x="548640" y="4023360"/>
            <a:ext cx="361188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22" name="Shape 20"/>
          <p:cNvSpPr/>
          <p:nvPr/>
        </p:nvSpPr>
        <p:spPr>
          <a:xfrm>
            <a:off x="868680" y="4343400"/>
            <a:ext cx="640080" cy="640080"/>
          </a:xfrm>
          <a:prstGeom prst="ellipse">
            <a:avLst/>
          </a:prstGeom>
          <a:solidFill>
            <a:srgbClr val="B07CFF"/>
          </a:solidFill>
          <a:ln/>
        </p:spPr>
      </p:sp>
      <p:sp>
        <p:nvSpPr>
          <p:cNvPr id="23" name="Shape 21"/>
          <p:cNvSpPr/>
          <p:nvPr/>
        </p:nvSpPr>
        <p:spPr>
          <a:xfrm>
            <a:off x="1024128" y="4498848"/>
            <a:ext cx="329184" cy="329184"/>
          </a:xfrm>
          <a:prstGeom prst="ellipse">
            <a:avLst/>
          </a:prstGeom>
          <a:solidFill>
            <a:srgbClr val="0F1420"/>
          </a:solidFill>
          <a:ln/>
        </p:spPr>
      </p:sp>
      <p:sp>
        <p:nvSpPr>
          <p:cNvPr id="24" name="Text 22"/>
          <p:cNvSpPr/>
          <p:nvPr/>
        </p:nvSpPr>
        <p:spPr>
          <a:xfrm>
            <a:off x="868680" y="512064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ThingSpeak</a:t>
            </a:r>
            <a:endParaRPr lang="en-US" sz="1800" dirty="0"/>
          </a:p>
        </p:txBody>
      </p:sp>
      <p:sp>
        <p:nvSpPr>
          <p:cNvPr id="25" name="Text 23"/>
          <p:cNvSpPr/>
          <p:nvPr/>
        </p:nvSpPr>
        <p:spPr>
          <a:xfrm>
            <a:off x="868680" y="5596128"/>
            <a:ext cx="2971800" cy="502920"/>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Lưu trữ &amp; thống kê dữ liệu IoT</a:t>
            </a:r>
            <a:endParaRPr lang="en-US" sz="1300" dirty="0"/>
          </a:p>
        </p:txBody>
      </p:sp>
      <p:sp>
        <p:nvSpPr>
          <p:cNvPr id="26" name="Shape 24"/>
          <p:cNvSpPr/>
          <p:nvPr/>
        </p:nvSpPr>
        <p:spPr>
          <a:xfrm>
            <a:off x="4416552" y="4023360"/>
            <a:ext cx="361188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27" name="Shape 25"/>
          <p:cNvSpPr/>
          <p:nvPr/>
        </p:nvSpPr>
        <p:spPr>
          <a:xfrm>
            <a:off x="4736592" y="4343400"/>
            <a:ext cx="640080" cy="640080"/>
          </a:xfrm>
          <a:prstGeom prst="ellipse">
            <a:avLst/>
          </a:prstGeom>
          <a:solidFill>
            <a:srgbClr val="FF6B6B"/>
          </a:solidFill>
          <a:ln/>
        </p:spPr>
      </p:sp>
      <p:sp>
        <p:nvSpPr>
          <p:cNvPr id="28" name="Shape 26"/>
          <p:cNvSpPr/>
          <p:nvPr/>
        </p:nvSpPr>
        <p:spPr>
          <a:xfrm>
            <a:off x="4892040" y="4498848"/>
            <a:ext cx="329184" cy="329184"/>
          </a:xfrm>
          <a:prstGeom prst="ellipse">
            <a:avLst/>
          </a:prstGeom>
          <a:solidFill>
            <a:srgbClr val="0F1420"/>
          </a:solidFill>
          <a:ln/>
        </p:spPr>
      </p:sp>
      <p:sp>
        <p:nvSpPr>
          <p:cNvPr id="29" name="Text 27"/>
          <p:cNvSpPr/>
          <p:nvPr/>
        </p:nvSpPr>
        <p:spPr>
          <a:xfrm>
            <a:off x="4736592" y="512064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Chart.js + Tailwind</a:t>
            </a:r>
            <a:endParaRPr lang="en-US" sz="1800" dirty="0"/>
          </a:p>
        </p:txBody>
      </p:sp>
      <p:sp>
        <p:nvSpPr>
          <p:cNvPr id="30" name="Text 28"/>
          <p:cNvSpPr/>
          <p:nvPr/>
        </p:nvSpPr>
        <p:spPr>
          <a:xfrm>
            <a:off x="4736592" y="5596128"/>
            <a:ext cx="2971800" cy="502920"/>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Biểu đồ &amp; giao diện</a:t>
            </a:r>
            <a:endParaRPr lang="en-US" sz="1300" dirty="0"/>
          </a:p>
        </p:txBody>
      </p:sp>
      <p:sp>
        <p:nvSpPr>
          <p:cNvPr id="31" name="Shape 29"/>
          <p:cNvSpPr/>
          <p:nvPr/>
        </p:nvSpPr>
        <p:spPr>
          <a:xfrm>
            <a:off x="8284464" y="4023360"/>
            <a:ext cx="361188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32" name="Shape 30"/>
          <p:cNvSpPr/>
          <p:nvPr/>
        </p:nvSpPr>
        <p:spPr>
          <a:xfrm>
            <a:off x="8604504" y="4343400"/>
            <a:ext cx="640080" cy="640080"/>
          </a:xfrm>
          <a:prstGeom prst="ellipse">
            <a:avLst/>
          </a:prstGeom>
          <a:solidFill>
            <a:srgbClr val="FFC24D"/>
          </a:solidFill>
          <a:ln/>
        </p:spPr>
      </p:sp>
      <p:sp>
        <p:nvSpPr>
          <p:cNvPr id="33" name="Shape 31"/>
          <p:cNvSpPr/>
          <p:nvPr/>
        </p:nvSpPr>
        <p:spPr>
          <a:xfrm>
            <a:off x="8759952" y="4498848"/>
            <a:ext cx="329184" cy="329184"/>
          </a:xfrm>
          <a:prstGeom prst="ellipse">
            <a:avLst/>
          </a:prstGeom>
          <a:solidFill>
            <a:srgbClr val="0F1420"/>
          </a:solidFill>
          <a:ln/>
        </p:spPr>
      </p:sp>
      <p:sp>
        <p:nvSpPr>
          <p:cNvPr id="34" name="Text 32"/>
          <p:cNvSpPr/>
          <p:nvPr/>
        </p:nvSpPr>
        <p:spPr>
          <a:xfrm>
            <a:off x="8604504" y="512064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Vitest + ESLint</a:t>
            </a:r>
            <a:endParaRPr lang="en-US" sz="1800" dirty="0"/>
          </a:p>
        </p:txBody>
      </p:sp>
      <p:sp>
        <p:nvSpPr>
          <p:cNvPr id="35" name="Text 33"/>
          <p:cNvSpPr/>
          <p:nvPr/>
        </p:nvSpPr>
        <p:spPr>
          <a:xfrm>
            <a:off x="8604504" y="5596128"/>
            <a:ext cx="2971800" cy="502920"/>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Kiểm thử &amp; chất lượng mã (81 test)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LINH KIỆN &amp; VAI TRÒ</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Phần cứng ESP32</a:t>
            </a:r>
            <a:endParaRPr lang="en-US" sz="3000" dirty="0"/>
          </a:p>
        </p:txBody>
      </p:sp>
      <p:sp>
        <p:nvSpPr>
          <p:cNvPr id="6" name="Shape 4"/>
          <p:cNvSpPr/>
          <p:nvPr/>
        </p:nvSpPr>
        <p:spPr>
          <a:xfrm>
            <a:off x="548640" y="1600200"/>
            <a:ext cx="11064240" cy="640080"/>
          </a:xfrm>
          <a:prstGeom prst="roundRect">
            <a:avLst>
              <a:gd name="adj" fmla="val 11429"/>
            </a:avLst>
          </a:prstGeom>
          <a:solidFill>
            <a:srgbClr val="1B2335"/>
          </a:solidFill>
          <a:ln/>
        </p:spPr>
      </p:sp>
      <p:sp>
        <p:nvSpPr>
          <p:cNvPr id="7" name="Shape 5"/>
          <p:cNvSpPr/>
          <p:nvPr/>
        </p:nvSpPr>
        <p:spPr>
          <a:xfrm>
            <a:off x="685800" y="1719072"/>
            <a:ext cx="822960" cy="402336"/>
          </a:xfrm>
          <a:prstGeom prst="roundRect">
            <a:avLst>
              <a:gd name="adj" fmla="val 13636"/>
            </a:avLst>
          </a:prstGeom>
          <a:solidFill>
            <a:srgbClr val="4FE0A3"/>
          </a:solidFill>
          <a:ln/>
        </p:spPr>
      </p:sp>
      <p:sp>
        <p:nvSpPr>
          <p:cNvPr id="8" name="Text 6"/>
          <p:cNvSpPr/>
          <p:nvPr/>
        </p:nvSpPr>
        <p:spPr>
          <a:xfrm>
            <a:off x="685800" y="1719072"/>
            <a:ext cx="822960" cy="402336"/>
          </a:xfrm>
          <a:prstGeom prst="rect">
            <a:avLst/>
          </a:prstGeom>
          <a:noFill/>
          <a:ln/>
        </p:spPr>
        <p:txBody>
          <a:bodyPr wrap="square" lIns="0" tIns="0" rIns="0" bIns="0" rtlCol="0" anchor="ctr"/>
          <a:lstStyle/>
          <a:p>
            <a:pPr marL="0" indent="0" algn="ctr">
              <a:buNone/>
            </a:pPr>
            <a:r>
              <a:rPr lang="en-US" sz="1500" b="1" dirty="0">
                <a:solidFill>
                  <a:srgbClr val="0F1420"/>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691640" y="1600200"/>
            <a:ext cx="36576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ESP32 DevKit-C v4</a:t>
            </a:r>
            <a:endParaRPr lang="en-US" sz="1600" dirty="0"/>
          </a:p>
        </p:txBody>
      </p:sp>
      <p:sp>
        <p:nvSpPr>
          <p:cNvPr id="10" name="Text 8"/>
          <p:cNvSpPr/>
          <p:nvPr/>
        </p:nvSpPr>
        <p:spPr>
          <a:xfrm>
            <a:off x="5486400" y="1600200"/>
            <a:ext cx="5943600" cy="640080"/>
          </a:xfrm>
          <a:prstGeom prst="rect">
            <a:avLst/>
          </a:prstGeom>
          <a:noFill/>
          <a:ln/>
        </p:spPr>
        <p:txBody>
          <a:bodyPr wrap="square" lIns="0" tIns="0" rIns="0" bIns="0" rtlCol="0" anchor="ctr"/>
          <a:lstStyle/>
          <a:p>
            <a:pPr marL="0" indent="0">
              <a:buNone/>
            </a:pPr>
            <a:r>
              <a:rPr lang="en-US" sz="1400" dirty="0">
                <a:solidFill>
                  <a:srgbClr val="9AA7BD"/>
                </a:solidFill>
                <a:latin typeface="Calibri" pitchFamily="34" charset="0"/>
                <a:ea typeface="Calibri" pitchFamily="34" charset="-122"/>
                <a:cs typeface="Calibri" pitchFamily="34" charset="-120"/>
              </a:rPr>
              <a:t>Bộ não: kết nối WiFi/MQTT, chạy logic, lái PWM ra LED</a:t>
            </a:r>
            <a:endParaRPr lang="en-US" sz="1400" dirty="0"/>
          </a:p>
        </p:txBody>
      </p:sp>
      <p:sp>
        <p:nvSpPr>
          <p:cNvPr id="11" name="Shape 9"/>
          <p:cNvSpPr/>
          <p:nvPr/>
        </p:nvSpPr>
        <p:spPr>
          <a:xfrm>
            <a:off x="548640" y="2350008"/>
            <a:ext cx="11064240" cy="640080"/>
          </a:xfrm>
          <a:prstGeom prst="roundRect">
            <a:avLst>
              <a:gd name="adj" fmla="val 11429"/>
            </a:avLst>
          </a:prstGeom>
          <a:solidFill>
            <a:srgbClr val="1B2335"/>
          </a:solidFill>
          <a:ln/>
        </p:spPr>
      </p:sp>
      <p:sp>
        <p:nvSpPr>
          <p:cNvPr id="12" name="Shape 10"/>
          <p:cNvSpPr/>
          <p:nvPr/>
        </p:nvSpPr>
        <p:spPr>
          <a:xfrm>
            <a:off x="685800" y="2468880"/>
            <a:ext cx="822960" cy="402336"/>
          </a:xfrm>
          <a:prstGeom prst="roundRect">
            <a:avLst>
              <a:gd name="adj" fmla="val 13636"/>
            </a:avLst>
          </a:prstGeom>
          <a:solidFill>
            <a:srgbClr val="FFAA00"/>
          </a:solidFill>
          <a:ln/>
        </p:spPr>
      </p:sp>
      <p:sp>
        <p:nvSpPr>
          <p:cNvPr id="13" name="Text 11"/>
          <p:cNvSpPr/>
          <p:nvPr/>
        </p:nvSpPr>
        <p:spPr>
          <a:xfrm>
            <a:off x="685800" y="2468880"/>
            <a:ext cx="822960" cy="402336"/>
          </a:xfrm>
          <a:prstGeom prst="rect">
            <a:avLst/>
          </a:prstGeom>
          <a:noFill/>
          <a:ln/>
        </p:spPr>
        <p:txBody>
          <a:bodyPr wrap="square" lIns="0" tIns="0" rIns="0" bIns="0" rtlCol="0" anchor="ctr"/>
          <a:lstStyle/>
          <a:p>
            <a:pPr marL="0" indent="0" algn="ctr">
              <a:buNone/>
            </a:pPr>
            <a:r>
              <a:rPr lang="en-US" sz="1500" b="1" dirty="0">
                <a:solidFill>
                  <a:srgbClr val="0F1420"/>
                </a:solidFill>
                <a:latin typeface="Calibri" pitchFamily="34" charset="0"/>
                <a:ea typeface="Calibri" pitchFamily="34" charset="-122"/>
                <a:cs typeface="Calibri" pitchFamily="34" charset="-120"/>
              </a:rPr>
              <a:t>×5</a:t>
            </a:r>
            <a:endParaRPr lang="en-US" sz="1500" dirty="0"/>
          </a:p>
        </p:txBody>
      </p:sp>
      <p:sp>
        <p:nvSpPr>
          <p:cNvPr id="14" name="Text 12"/>
          <p:cNvSpPr/>
          <p:nvPr/>
        </p:nvSpPr>
        <p:spPr>
          <a:xfrm>
            <a:off x="1691640" y="2350008"/>
            <a:ext cx="36576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RGB LED (Common Cathode)</a:t>
            </a:r>
            <a:endParaRPr lang="en-US" sz="1600" dirty="0"/>
          </a:p>
        </p:txBody>
      </p:sp>
      <p:sp>
        <p:nvSpPr>
          <p:cNvPr id="15" name="Text 13"/>
          <p:cNvSpPr/>
          <p:nvPr/>
        </p:nvSpPr>
        <p:spPr>
          <a:xfrm>
            <a:off x="5486400" y="2350008"/>
            <a:ext cx="5943600" cy="640080"/>
          </a:xfrm>
          <a:prstGeom prst="rect">
            <a:avLst/>
          </a:prstGeom>
          <a:noFill/>
          <a:ln/>
        </p:spPr>
        <p:txBody>
          <a:bodyPr wrap="square" lIns="0" tIns="0" rIns="0" bIns="0" rtlCol="0" anchor="ctr"/>
          <a:lstStyle/>
          <a:p>
            <a:pPr marL="0" indent="0">
              <a:buNone/>
            </a:pPr>
            <a:r>
              <a:rPr lang="en-US" sz="1400" dirty="0">
                <a:solidFill>
                  <a:srgbClr val="9AA7BD"/>
                </a:solidFill>
                <a:latin typeface="Calibri" pitchFamily="34" charset="0"/>
                <a:ea typeface="Calibri" pitchFamily="34" charset="-122"/>
                <a:cs typeface="Calibri" pitchFamily="34" charset="-120"/>
              </a:rPr>
              <a:t>Đèn đổi màu — trộn 3 kênh R/G/B bằng PWM</a:t>
            </a:r>
            <a:endParaRPr lang="en-US" sz="1400" dirty="0"/>
          </a:p>
        </p:txBody>
      </p:sp>
      <p:sp>
        <p:nvSpPr>
          <p:cNvPr id="16" name="Shape 14"/>
          <p:cNvSpPr/>
          <p:nvPr/>
        </p:nvSpPr>
        <p:spPr>
          <a:xfrm>
            <a:off x="548640" y="3099816"/>
            <a:ext cx="11064240" cy="640080"/>
          </a:xfrm>
          <a:prstGeom prst="roundRect">
            <a:avLst>
              <a:gd name="adj" fmla="val 11429"/>
            </a:avLst>
          </a:prstGeom>
          <a:solidFill>
            <a:srgbClr val="1B2335"/>
          </a:solidFill>
          <a:ln/>
        </p:spPr>
      </p:sp>
      <p:sp>
        <p:nvSpPr>
          <p:cNvPr id="17" name="Shape 15"/>
          <p:cNvSpPr/>
          <p:nvPr/>
        </p:nvSpPr>
        <p:spPr>
          <a:xfrm>
            <a:off x="685800" y="3218688"/>
            <a:ext cx="822960" cy="402336"/>
          </a:xfrm>
          <a:prstGeom prst="roundRect">
            <a:avLst>
              <a:gd name="adj" fmla="val 13636"/>
            </a:avLst>
          </a:prstGeom>
          <a:solidFill>
            <a:srgbClr val="4F9CFF"/>
          </a:solidFill>
          <a:ln/>
        </p:spPr>
      </p:sp>
      <p:sp>
        <p:nvSpPr>
          <p:cNvPr id="18" name="Text 16"/>
          <p:cNvSpPr/>
          <p:nvPr/>
        </p:nvSpPr>
        <p:spPr>
          <a:xfrm>
            <a:off x="685800" y="3218688"/>
            <a:ext cx="822960" cy="402336"/>
          </a:xfrm>
          <a:prstGeom prst="rect">
            <a:avLst/>
          </a:prstGeom>
          <a:noFill/>
          <a:ln/>
        </p:spPr>
        <p:txBody>
          <a:bodyPr wrap="square" lIns="0" tIns="0" rIns="0" bIns="0" rtlCol="0" anchor="ctr"/>
          <a:lstStyle/>
          <a:p>
            <a:pPr marL="0" indent="0" algn="ctr">
              <a:buNone/>
            </a:pPr>
            <a:r>
              <a:rPr lang="en-US" sz="1500" b="1" dirty="0">
                <a:solidFill>
                  <a:srgbClr val="0F1420"/>
                </a:solidFill>
                <a:latin typeface="Calibri" pitchFamily="34" charset="0"/>
                <a:ea typeface="Calibri" pitchFamily="34" charset="-122"/>
                <a:cs typeface="Calibri" pitchFamily="34" charset="-120"/>
              </a:rPr>
              <a:t>×1</a:t>
            </a:r>
            <a:endParaRPr lang="en-US" sz="1500" dirty="0"/>
          </a:p>
        </p:txBody>
      </p:sp>
      <p:sp>
        <p:nvSpPr>
          <p:cNvPr id="19" name="Text 17"/>
          <p:cNvSpPr/>
          <p:nvPr/>
        </p:nvSpPr>
        <p:spPr>
          <a:xfrm>
            <a:off x="1691640" y="3099816"/>
            <a:ext cx="36576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LED đơn màu trắng</a:t>
            </a:r>
            <a:endParaRPr lang="en-US" sz="1600" dirty="0"/>
          </a:p>
        </p:txBody>
      </p:sp>
      <p:sp>
        <p:nvSpPr>
          <p:cNvPr id="20" name="Text 18"/>
          <p:cNvSpPr/>
          <p:nvPr/>
        </p:nvSpPr>
        <p:spPr>
          <a:xfrm>
            <a:off x="5486400" y="3099816"/>
            <a:ext cx="5943600" cy="640080"/>
          </a:xfrm>
          <a:prstGeom prst="rect">
            <a:avLst/>
          </a:prstGeom>
          <a:noFill/>
          <a:ln/>
        </p:spPr>
        <p:txBody>
          <a:bodyPr wrap="square" lIns="0" tIns="0" rIns="0" bIns="0" rtlCol="0" anchor="ctr"/>
          <a:lstStyle/>
          <a:p>
            <a:pPr marL="0" indent="0">
              <a:buNone/>
            </a:pPr>
            <a:r>
              <a:rPr lang="en-US" sz="1400" dirty="0">
                <a:solidFill>
                  <a:srgbClr val="9AA7BD"/>
                </a:solidFill>
                <a:latin typeface="Calibri" pitchFamily="34" charset="0"/>
                <a:ea typeface="Calibri" pitchFamily="34" charset="-122"/>
                <a:cs typeface="Calibri" pitchFamily="34" charset="-120"/>
              </a:rPr>
              <a:t>Đèn phòng tắm (không đổi màu)</a:t>
            </a:r>
            <a:endParaRPr lang="en-US" sz="1400" dirty="0"/>
          </a:p>
        </p:txBody>
      </p:sp>
      <p:sp>
        <p:nvSpPr>
          <p:cNvPr id="21" name="Shape 19"/>
          <p:cNvSpPr/>
          <p:nvPr/>
        </p:nvSpPr>
        <p:spPr>
          <a:xfrm>
            <a:off x="548640" y="3849624"/>
            <a:ext cx="11064240" cy="640080"/>
          </a:xfrm>
          <a:prstGeom prst="roundRect">
            <a:avLst>
              <a:gd name="adj" fmla="val 11429"/>
            </a:avLst>
          </a:prstGeom>
          <a:solidFill>
            <a:srgbClr val="1B2335"/>
          </a:solidFill>
          <a:ln/>
        </p:spPr>
      </p:sp>
      <p:sp>
        <p:nvSpPr>
          <p:cNvPr id="22" name="Shape 20"/>
          <p:cNvSpPr/>
          <p:nvPr/>
        </p:nvSpPr>
        <p:spPr>
          <a:xfrm>
            <a:off x="685800" y="3968496"/>
            <a:ext cx="822960" cy="402336"/>
          </a:xfrm>
          <a:prstGeom prst="roundRect">
            <a:avLst>
              <a:gd name="adj" fmla="val 13636"/>
            </a:avLst>
          </a:prstGeom>
          <a:solidFill>
            <a:srgbClr val="B07CFF"/>
          </a:solidFill>
          <a:ln/>
        </p:spPr>
      </p:sp>
      <p:sp>
        <p:nvSpPr>
          <p:cNvPr id="23" name="Text 21"/>
          <p:cNvSpPr/>
          <p:nvPr/>
        </p:nvSpPr>
        <p:spPr>
          <a:xfrm>
            <a:off x="685800" y="3968496"/>
            <a:ext cx="822960" cy="402336"/>
          </a:xfrm>
          <a:prstGeom prst="rect">
            <a:avLst/>
          </a:prstGeom>
          <a:noFill/>
          <a:ln/>
        </p:spPr>
        <p:txBody>
          <a:bodyPr wrap="square" lIns="0" tIns="0" rIns="0" bIns="0" rtlCol="0" anchor="ctr"/>
          <a:lstStyle/>
          <a:p>
            <a:pPr marL="0" indent="0" algn="ctr">
              <a:buNone/>
            </a:pPr>
            <a:r>
              <a:rPr lang="en-US" sz="1500" b="1" dirty="0">
                <a:solidFill>
                  <a:srgbClr val="0F1420"/>
                </a:solidFill>
                <a:latin typeface="Calibri" pitchFamily="34" charset="0"/>
                <a:ea typeface="Calibri" pitchFamily="34" charset="-122"/>
                <a:cs typeface="Calibri" pitchFamily="34" charset="-120"/>
              </a:rPr>
              <a:t>×1</a:t>
            </a:r>
            <a:endParaRPr lang="en-US" sz="1500" dirty="0"/>
          </a:p>
        </p:txBody>
      </p:sp>
      <p:sp>
        <p:nvSpPr>
          <p:cNvPr id="24" name="Text 22"/>
          <p:cNvSpPr/>
          <p:nvPr/>
        </p:nvSpPr>
        <p:spPr>
          <a:xfrm>
            <a:off x="1691640" y="3849624"/>
            <a:ext cx="36576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PIR Motion Sensor</a:t>
            </a:r>
            <a:endParaRPr lang="en-US" sz="1600" dirty="0"/>
          </a:p>
        </p:txBody>
      </p:sp>
      <p:sp>
        <p:nvSpPr>
          <p:cNvPr id="25" name="Text 23"/>
          <p:cNvSpPr/>
          <p:nvPr/>
        </p:nvSpPr>
        <p:spPr>
          <a:xfrm>
            <a:off x="5486400" y="3849624"/>
            <a:ext cx="5943600" cy="640080"/>
          </a:xfrm>
          <a:prstGeom prst="rect">
            <a:avLst/>
          </a:prstGeom>
          <a:noFill/>
          <a:ln/>
        </p:spPr>
        <p:txBody>
          <a:bodyPr wrap="square" lIns="0" tIns="0" rIns="0" bIns="0" rtlCol="0" anchor="ctr"/>
          <a:lstStyle/>
          <a:p>
            <a:pPr marL="0" indent="0">
              <a:buNone/>
            </a:pPr>
            <a:r>
              <a:rPr lang="en-US" sz="1400" dirty="0">
                <a:solidFill>
                  <a:srgbClr val="9AA7BD"/>
                </a:solidFill>
                <a:latin typeface="Calibri" pitchFamily="34" charset="0"/>
                <a:ea typeface="Calibri" pitchFamily="34" charset="-122"/>
                <a:cs typeface="Calibri" pitchFamily="34" charset="-120"/>
              </a:rPr>
              <a:t>Phát hiện chuyển động → tự bật đèn phòng tắm</a:t>
            </a:r>
            <a:endParaRPr lang="en-US" sz="1400" dirty="0"/>
          </a:p>
        </p:txBody>
      </p:sp>
      <p:sp>
        <p:nvSpPr>
          <p:cNvPr id="26" name="Shape 24"/>
          <p:cNvSpPr/>
          <p:nvPr/>
        </p:nvSpPr>
        <p:spPr>
          <a:xfrm>
            <a:off x="548640" y="4599432"/>
            <a:ext cx="11064240" cy="640080"/>
          </a:xfrm>
          <a:prstGeom prst="roundRect">
            <a:avLst>
              <a:gd name="adj" fmla="val 11429"/>
            </a:avLst>
          </a:prstGeom>
          <a:solidFill>
            <a:srgbClr val="1B2335"/>
          </a:solidFill>
          <a:ln/>
        </p:spPr>
      </p:sp>
      <p:sp>
        <p:nvSpPr>
          <p:cNvPr id="27" name="Shape 25"/>
          <p:cNvSpPr/>
          <p:nvPr/>
        </p:nvSpPr>
        <p:spPr>
          <a:xfrm>
            <a:off x="685800" y="4718304"/>
            <a:ext cx="822960" cy="402336"/>
          </a:xfrm>
          <a:prstGeom prst="roundRect">
            <a:avLst>
              <a:gd name="adj" fmla="val 13636"/>
            </a:avLst>
          </a:prstGeom>
          <a:solidFill>
            <a:srgbClr val="FF6B6B"/>
          </a:solidFill>
          <a:ln/>
        </p:spPr>
      </p:sp>
      <p:sp>
        <p:nvSpPr>
          <p:cNvPr id="28" name="Text 26"/>
          <p:cNvSpPr/>
          <p:nvPr/>
        </p:nvSpPr>
        <p:spPr>
          <a:xfrm>
            <a:off x="685800" y="4718304"/>
            <a:ext cx="822960" cy="402336"/>
          </a:xfrm>
          <a:prstGeom prst="rect">
            <a:avLst/>
          </a:prstGeom>
          <a:noFill/>
          <a:ln/>
        </p:spPr>
        <p:txBody>
          <a:bodyPr wrap="square" lIns="0" tIns="0" rIns="0" bIns="0" rtlCol="0" anchor="ctr"/>
          <a:lstStyle/>
          <a:p>
            <a:pPr marL="0" indent="0" algn="ctr">
              <a:buNone/>
            </a:pPr>
            <a:r>
              <a:rPr lang="en-US" sz="1500" b="1" dirty="0">
                <a:solidFill>
                  <a:srgbClr val="0F1420"/>
                </a:solidFill>
                <a:latin typeface="Calibri" pitchFamily="34" charset="0"/>
                <a:ea typeface="Calibri" pitchFamily="34" charset="-122"/>
                <a:cs typeface="Calibri" pitchFamily="34" charset="-120"/>
              </a:rPr>
              <a:t>×1</a:t>
            </a:r>
            <a:endParaRPr lang="en-US" sz="1500" dirty="0"/>
          </a:p>
        </p:txBody>
      </p:sp>
      <p:sp>
        <p:nvSpPr>
          <p:cNvPr id="29" name="Text 27"/>
          <p:cNvSpPr/>
          <p:nvPr/>
        </p:nvSpPr>
        <p:spPr>
          <a:xfrm>
            <a:off x="1691640" y="4599432"/>
            <a:ext cx="36576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DHT22</a:t>
            </a:r>
            <a:endParaRPr lang="en-US" sz="1600" dirty="0"/>
          </a:p>
        </p:txBody>
      </p:sp>
      <p:sp>
        <p:nvSpPr>
          <p:cNvPr id="30" name="Text 28"/>
          <p:cNvSpPr/>
          <p:nvPr/>
        </p:nvSpPr>
        <p:spPr>
          <a:xfrm>
            <a:off x="5486400" y="4599432"/>
            <a:ext cx="5943600" cy="640080"/>
          </a:xfrm>
          <a:prstGeom prst="rect">
            <a:avLst/>
          </a:prstGeom>
          <a:noFill/>
          <a:ln/>
        </p:spPr>
        <p:txBody>
          <a:bodyPr wrap="square" lIns="0" tIns="0" rIns="0" bIns="0" rtlCol="0" anchor="ctr"/>
          <a:lstStyle/>
          <a:p>
            <a:pPr marL="0" indent="0">
              <a:buNone/>
            </a:pPr>
            <a:r>
              <a:rPr lang="en-US" sz="1400" dirty="0">
                <a:solidFill>
                  <a:srgbClr val="9AA7BD"/>
                </a:solidFill>
                <a:latin typeface="Calibri" pitchFamily="34" charset="0"/>
                <a:ea typeface="Calibri" pitchFamily="34" charset="-122"/>
                <a:cs typeface="Calibri" pitchFamily="34" charset="-120"/>
              </a:rPr>
              <a:t>Đo nhiệt độ &amp; độ ẩm (GPIO 15)</a:t>
            </a:r>
            <a:endParaRPr lang="en-US" sz="1400" dirty="0"/>
          </a:p>
        </p:txBody>
      </p:sp>
      <p:sp>
        <p:nvSpPr>
          <p:cNvPr id="31" name="Shape 29"/>
          <p:cNvSpPr/>
          <p:nvPr/>
        </p:nvSpPr>
        <p:spPr>
          <a:xfrm>
            <a:off x="548640" y="5349240"/>
            <a:ext cx="11064240" cy="640080"/>
          </a:xfrm>
          <a:prstGeom prst="roundRect">
            <a:avLst>
              <a:gd name="adj" fmla="val 11429"/>
            </a:avLst>
          </a:prstGeom>
          <a:solidFill>
            <a:srgbClr val="1B2335"/>
          </a:solidFill>
          <a:ln/>
        </p:spPr>
      </p:sp>
      <p:sp>
        <p:nvSpPr>
          <p:cNvPr id="32" name="Shape 30"/>
          <p:cNvSpPr/>
          <p:nvPr/>
        </p:nvSpPr>
        <p:spPr>
          <a:xfrm>
            <a:off x="685800" y="5468112"/>
            <a:ext cx="822960" cy="402336"/>
          </a:xfrm>
          <a:prstGeom prst="roundRect">
            <a:avLst>
              <a:gd name="adj" fmla="val 13636"/>
            </a:avLst>
          </a:prstGeom>
          <a:solidFill>
            <a:srgbClr val="FFC24D"/>
          </a:solidFill>
          <a:ln/>
        </p:spPr>
      </p:sp>
      <p:sp>
        <p:nvSpPr>
          <p:cNvPr id="33" name="Text 31"/>
          <p:cNvSpPr/>
          <p:nvPr/>
        </p:nvSpPr>
        <p:spPr>
          <a:xfrm>
            <a:off x="685800" y="5468112"/>
            <a:ext cx="822960" cy="402336"/>
          </a:xfrm>
          <a:prstGeom prst="rect">
            <a:avLst/>
          </a:prstGeom>
          <a:noFill/>
          <a:ln/>
        </p:spPr>
        <p:txBody>
          <a:bodyPr wrap="square" lIns="0" tIns="0" rIns="0" bIns="0" rtlCol="0" anchor="ctr"/>
          <a:lstStyle/>
          <a:p>
            <a:pPr marL="0" indent="0" algn="ctr">
              <a:buNone/>
            </a:pPr>
            <a:r>
              <a:rPr lang="en-US" sz="1500" b="1" dirty="0">
                <a:solidFill>
                  <a:srgbClr val="0F1420"/>
                </a:solidFill>
                <a:latin typeface="Calibri" pitchFamily="34" charset="0"/>
                <a:ea typeface="Calibri" pitchFamily="34" charset="-122"/>
                <a:cs typeface="Calibri" pitchFamily="34" charset="-120"/>
              </a:rPr>
              <a:t>×16</a:t>
            </a:r>
            <a:endParaRPr lang="en-US" sz="1500" dirty="0"/>
          </a:p>
        </p:txBody>
      </p:sp>
      <p:sp>
        <p:nvSpPr>
          <p:cNvPr id="34" name="Text 32"/>
          <p:cNvSpPr/>
          <p:nvPr/>
        </p:nvSpPr>
        <p:spPr>
          <a:xfrm>
            <a:off x="1691640" y="5349240"/>
            <a:ext cx="36576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Điện trở 220Ω</a:t>
            </a:r>
            <a:endParaRPr lang="en-US" sz="1600" dirty="0"/>
          </a:p>
        </p:txBody>
      </p:sp>
      <p:sp>
        <p:nvSpPr>
          <p:cNvPr id="35" name="Text 33"/>
          <p:cNvSpPr/>
          <p:nvPr/>
        </p:nvSpPr>
        <p:spPr>
          <a:xfrm>
            <a:off x="5486400" y="5349240"/>
            <a:ext cx="5943600" cy="640080"/>
          </a:xfrm>
          <a:prstGeom prst="rect">
            <a:avLst/>
          </a:prstGeom>
          <a:noFill/>
          <a:ln/>
        </p:spPr>
        <p:txBody>
          <a:bodyPr wrap="square" lIns="0" tIns="0" rIns="0" bIns="0" rtlCol="0" anchor="ctr"/>
          <a:lstStyle/>
          <a:p>
            <a:pPr marL="0" indent="0">
              <a:buNone/>
            </a:pPr>
            <a:r>
              <a:rPr lang="en-US" sz="1400" dirty="0">
                <a:solidFill>
                  <a:srgbClr val="9AA7BD"/>
                </a:solidFill>
                <a:latin typeface="Calibri" pitchFamily="34" charset="0"/>
                <a:ea typeface="Calibri" pitchFamily="34" charset="-122"/>
                <a:cs typeface="Calibri" pitchFamily="34" charset="-120"/>
              </a:rPr>
              <a:t>Giới hạn dòng, bảo vệ LED &amp; chân GPIO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ĐIỀU KHIỂN ĐÈN</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Tính năng cốt lõi</a:t>
            </a:r>
            <a:endParaRPr lang="en-US" sz="3000" dirty="0"/>
          </a:p>
        </p:txBody>
      </p:sp>
      <p:sp>
        <p:nvSpPr>
          <p:cNvPr id="6" name="Shape 4"/>
          <p:cNvSpPr/>
          <p:nvPr/>
        </p:nvSpPr>
        <p:spPr>
          <a:xfrm>
            <a:off x="548640" y="160020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7" name="Shape 5"/>
          <p:cNvSpPr/>
          <p:nvPr/>
        </p:nvSpPr>
        <p:spPr>
          <a:xfrm>
            <a:off x="914400" y="1965960"/>
            <a:ext cx="548640" cy="548640"/>
          </a:xfrm>
          <a:prstGeom prst="roundRect">
            <a:avLst>
              <a:gd name="adj" fmla="val 20000"/>
            </a:avLst>
          </a:prstGeom>
          <a:solidFill>
            <a:srgbClr val="FFAA00"/>
          </a:solidFill>
          <a:ln/>
        </p:spPr>
      </p:sp>
      <p:sp>
        <p:nvSpPr>
          <p:cNvPr id="8" name="Text 6"/>
          <p:cNvSpPr/>
          <p:nvPr/>
        </p:nvSpPr>
        <p:spPr>
          <a:xfrm>
            <a:off x="1645920" y="1965960"/>
            <a:ext cx="4114800" cy="5943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Bật / Tắt &amp; Độ sáng</a:t>
            </a:r>
            <a:endParaRPr lang="en-US" sz="1900" dirty="0"/>
          </a:p>
        </p:txBody>
      </p:sp>
      <p:sp>
        <p:nvSpPr>
          <p:cNvPr id="9" name="Text 7"/>
          <p:cNvSpPr/>
          <p:nvPr/>
        </p:nvSpPr>
        <p:spPr>
          <a:xfrm>
            <a:off x="932688" y="2697480"/>
            <a:ext cx="4709160" cy="914400"/>
          </a:xfrm>
          <a:prstGeom prst="rect">
            <a:avLst/>
          </a:prstGeom>
          <a:noFill/>
          <a:ln/>
        </p:spPr>
        <p:txBody>
          <a:bodyPr wrap="square" lIns="0" tIns="0" rIns="0" bIns="0" rtlCol="0" anchor="t"/>
          <a:lstStyle/>
          <a:p>
            <a:pPr marL="0" indent="0">
              <a:lnSpc>
                <a:spcPct val="120000"/>
              </a:lnSpc>
              <a:buNone/>
            </a:pPr>
            <a:r>
              <a:rPr lang="en-US" sz="1450" dirty="0">
                <a:solidFill>
                  <a:srgbClr val="9AA7BD"/>
                </a:solidFill>
                <a:latin typeface="Calibri" pitchFamily="34" charset="0"/>
                <a:ea typeface="Calibri" pitchFamily="34" charset="-122"/>
                <a:cs typeface="Calibri" pitchFamily="34" charset="-120"/>
              </a:rPr>
              <a:t>Điều khiển từng đèn độc lập, chỉnh độ sáng 0–100% (thanh trượt có debounce).</a:t>
            </a:r>
            <a:endParaRPr lang="en-US" sz="1450" dirty="0"/>
          </a:p>
        </p:txBody>
      </p:sp>
      <p:sp>
        <p:nvSpPr>
          <p:cNvPr id="10" name="Shape 8"/>
          <p:cNvSpPr/>
          <p:nvPr/>
        </p:nvSpPr>
        <p:spPr>
          <a:xfrm>
            <a:off x="6309360" y="160020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1" name="Shape 9"/>
          <p:cNvSpPr/>
          <p:nvPr/>
        </p:nvSpPr>
        <p:spPr>
          <a:xfrm>
            <a:off x="6675120" y="1965960"/>
            <a:ext cx="548640" cy="548640"/>
          </a:xfrm>
          <a:prstGeom prst="roundRect">
            <a:avLst>
              <a:gd name="adj" fmla="val 20000"/>
            </a:avLst>
          </a:prstGeom>
          <a:solidFill>
            <a:srgbClr val="4F9CFF"/>
          </a:solidFill>
          <a:ln/>
        </p:spPr>
      </p:sp>
      <p:sp>
        <p:nvSpPr>
          <p:cNvPr id="12" name="Text 10"/>
          <p:cNvSpPr/>
          <p:nvPr/>
        </p:nvSpPr>
        <p:spPr>
          <a:xfrm>
            <a:off x="7406640" y="1965960"/>
            <a:ext cx="4114800" cy="5943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3 tông màu nhiệt (RGB)</a:t>
            </a:r>
            <a:endParaRPr lang="en-US" sz="1900" dirty="0"/>
          </a:p>
        </p:txBody>
      </p:sp>
      <p:sp>
        <p:nvSpPr>
          <p:cNvPr id="13" name="Text 11"/>
          <p:cNvSpPr/>
          <p:nvPr/>
        </p:nvSpPr>
        <p:spPr>
          <a:xfrm>
            <a:off x="6693408" y="2697480"/>
            <a:ext cx="4709160" cy="914400"/>
          </a:xfrm>
          <a:prstGeom prst="rect">
            <a:avLst/>
          </a:prstGeom>
          <a:noFill/>
          <a:ln/>
        </p:spPr>
        <p:txBody>
          <a:bodyPr wrap="square" lIns="0" tIns="0" rIns="0" bIns="0" rtlCol="0" anchor="t"/>
          <a:lstStyle/>
          <a:p>
            <a:pPr marL="0" indent="0">
              <a:lnSpc>
                <a:spcPct val="120000"/>
              </a:lnSpc>
              <a:buNone/>
            </a:pPr>
            <a:r>
              <a:rPr lang="en-US" sz="1450" dirty="0">
                <a:solidFill>
                  <a:srgbClr val="9AA7BD"/>
                </a:solidFill>
                <a:latin typeface="Calibri" pitchFamily="34" charset="0"/>
                <a:ea typeface="Calibri" pitchFamily="34" charset="-122"/>
                <a:cs typeface="Calibri" pitchFamily="34" charset="-120"/>
              </a:rPr>
              <a:t>Trắng lạnh, Trắng ấm, Vàng ấm — ESP32 là nguồn sự thật cho màu.</a:t>
            </a:r>
            <a:endParaRPr lang="en-US" sz="1450" dirty="0"/>
          </a:p>
        </p:txBody>
      </p:sp>
      <p:sp>
        <p:nvSpPr>
          <p:cNvPr id="14" name="Shape 12"/>
          <p:cNvSpPr/>
          <p:nvPr/>
        </p:nvSpPr>
        <p:spPr>
          <a:xfrm>
            <a:off x="548640" y="402336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5" name="Shape 13"/>
          <p:cNvSpPr/>
          <p:nvPr/>
        </p:nvSpPr>
        <p:spPr>
          <a:xfrm>
            <a:off x="914400" y="4389120"/>
            <a:ext cx="548640" cy="548640"/>
          </a:xfrm>
          <a:prstGeom prst="roundRect">
            <a:avLst>
              <a:gd name="adj" fmla="val 20000"/>
            </a:avLst>
          </a:prstGeom>
          <a:solidFill>
            <a:srgbClr val="B07CFF"/>
          </a:solidFill>
          <a:ln/>
        </p:spPr>
      </p:sp>
      <p:sp>
        <p:nvSpPr>
          <p:cNvPr id="16" name="Text 14"/>
          <p:cNvSpPr/>
          <p:nvPr/>
        </p:nvSpPr>
        <p:spPr>
          <a:xfrm>
            <a:off x="1645920" y="4389120"/>
            <a:ext cx="4114800" cy="5943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PIR tự động (phòng tắm)</a:t>
            </a:r>
            <a:endParaRPr lang="en-US" sz="1900" dirty="0"/>
          </a:p>
        </p:txBody>
      </p:sp>
      <p:sp>
        <p:nvSpPr>
          <p:cNvPr id="17" name="Text 15"/>
          <p:cNvSpPr/>
          <p:nvPr/>
        </p:nvSpPr>
        <p:spPr>
          <a:xfrm>
            <a:off x="932688" y="5120640"/>
            <a:ext cx="4709160" cy="914400"/>
          </a:xfrm>
          <a:prstGeom prst="rect">
            <a:avLst/>
          </a:prstGeom>
          <a:noFill/>
          <a:ln/>
        </p:spPr>
        <p:txBody>
          <a:bodyPr wrap="square" lIns="0" tIns="0" rIns="0" bIns="0" rtlCol="0" anchor="t"/>
          <a:lstStyle/>
          <a:p>
            <a:pPr marL="0" indent="0">
              <a:lnSpc>
                <a:spcPct val="120000"/>
              </a:lnSpc>
              <a:buNone/>
            </a:pPr>
            <a:r>
              <a:rPr lang="en-US" sz="1450" dirty="0">
                <a:solidFill>
                  <a:srgbClr val="9AA7BD"/>
                </a:solidFill>
                <a:latin typeface="Calibri" pitchFamily="34" charset="0"/>
                <a:ea typeface="Calibri" pitchFamily="34" charset="-122"/>
                <a:cs typeface="Calibri" pitchFamily="34" charset="-120"/>
              </a:rPr>
              <a:t>Tự bật khi có người, tự tắt sau 20s không chuyển động; vẫn điều khiển tay được.</a:t>
            </a:r>
            <a:endParaRPr lang="en-US" sz="1450" dirty="0"/>
          </a:p>
        </p:txBody>
      </p:sp>
      <p:sp>
        <p:nvSpPr>
          <p:cNvPr id="18" name="Shape 16"/>
          <p:cNvSpPr/>
          <p:nvPr/>
        </p:nvSpPr>
        <p:spPr>
          <a:xfrm>
            <a:off x="6309360" y="402336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9" name="Shape 17"/>
          <p:cNvSpPr/>
          <p:nvPr/>
        </p:nvSpPr>
        <p:spPr>
          <a:xfrm>
            <a:off x="6675120" y="4389120"/>
            <a:ext cx="548640" cy="548640"/>
          </a:xfrm>
          <a:prstGeom prst="roundRect">
            <a:avLst>
              <a:gd name="adj" fmla="val 20000"/>
            </a:avLst>
          </a:prstGeom>
          <a:solidFill>
            <a:srgbClr val="4FE0A3"/>
          </a:solidFill>
          <a:ln/>
        </p:spPr>
      </p:sp>
      <p:sp>
        <p:nvSpPr>
          <p:cNvPr id="20" name="Text 18"/>
          <p:cNvSpPr/>
          <p:nvPr/>
        </p:nvSpPr>
        <p:spPr>
          <a:xfrm>
            <a:off x="7406640" y="4389120"/>
            <a:ext cx="4114800" cy="5943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Đồng bộ thời gian thực</a:t>
            </a:r>
            <a:endParaRPr lang="en-US" sz="1900" dirty="0"/>
          </a:p>
        </p:txBody>
      </p:sp>
      <p:sp>
        <p:nvSpPr>
          <p:cNvPr id="21" name="Text 19"/>
          <p:cNvSpPr/>
          <p:nvPr/>
        </p:nvSpPr>
        <p:spPr>
          <a:xfrm>
            <a:off x="6693408" y="5120640"/>
            <a:ext cx="4709160" cy="914400"/>
          </a:xfrm>
          <a:prstGeom prst="rect">
            <a:avLst/>
          </a:prstGeom>
          <a:noFill/>
          <a:ln/>
        </p:spPr>
        <p:txBody>
          <a:bodyPr wrap="square" lIns="0" tIns="0" rIns="0" bIns="0" rtlCol="0" anchor="t"/>
          <a:lstStyle/>
          <a:p>
            <a:pPr marL="0" indent="0">
              <a:lnSpc>
                <a:spcPct val="120000"/>
              </a:lnSpc>
              <a:buNone/>
            </a:pPr>
            <a:r>
              <a:rPr lang="en-US" sz="1450" dirty="0">
                <a:solidFill>
                  <a:srgbClr val="9AA7BD"/>
                </a:solidFill>
                <a:latin typeface="Calibri" pitchFamily="34" charset="0"/>
                <a:ea typeface="Calibri" pitchFamily="34" charset="-122"/>
                <a:cs typeface="Calibri" pitchFamily="34" charset="-120"/>
              </a:rPr>
              <a:t>Trạng thái đèn phản hồi 2 chiều Web ↔ ESP32 qua MQTT trong ~1 giây.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TRẢI NGHIỆM NGƯỜI DÙNG</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Giao diện Web</a:t>
            </a:r>
            <a:endParaRPr lang="en-US" sz="3000" dirty="0"/>
          </a:p>
        </p:txBody>
      </p:sp>
      <p:sp>
        <p:nvSpPr>
          <p:cNvPr id="6" name="Shape 4"/>
          <p:cNvSpPr/>
          <p:nvPr/>
        </p:nvSpPr>
        <p:spPr>
          <a:xfrm>
            <a:off x="548640" y="1645920"/>
            <a:ext cx="5394960" cy="1737360"/>
          </a:xfrm>
          <a:prstGeom prst="roundRect">
            <a:avLst>
              <a:gd name="adj" fmla="val 631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7" name="Shape 5"/>
          <p:cNvSpPr/>
          <p:nvPr/>
        </p:nvSpPr>
        <p:spPr>
          <a:xfrm>
            <a:off x="548640" y="1645920"/>
            <a:ext cx="128016" cy="1737360"/>
          </a:xfrm>
          <a:prstGeom prst="roundRect">
            <a:avLst>
              <a:gd name="adj" fmla="val 35714"/>
            </a:avLst>
          </a:prstGeom>
          <a:solidFill>
            <a:srgbClr val="FFAA00"/>
          </a:solidFill>
          <a:ln/>
        </p:spPr>
      </p:sp>
      <p:sp>
        <p:nvSpPr>
          <p:cNvPr id="8" name="Text 6"/>
          <p:cNvSpPr/>
          <p:nvPr/>
        </p:nvSpPr>
        <p:spPr>
          <a:xfrm>
            <a:off x="868680" y="1901952"/>
            <a:ext cx="484632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Tab Điều khiển</a:t>
            </a:r>
            <a:endParaRPr lang="en-US" sz="1900" dirty="0"/>
          </a:p>
        </p:txBody>
      </p:sp>
      <p:sp>
        <p:nvSpPr>
          <p:cNvPr id="9" name="Text 7"/>
          <p:cNvSpPr/>
          <p:nvPr/>
        </p:nvSpPr>
        <p:spPr>
          <a:xfrm>
            <a:off x="868680" y="2395728"/>
            <a:ext cx="4892040" cy="868680"/>
          </a:xfrm>
          <a:prstGeom prst="rect">
            <a:avLst/>
          </a:prstGeom>
          <a:noFill/>
          <a:ln/>
        </p:spPr>
        <p:txBody>
          <a:bodyPr wrap="square" lIns="0" tIns="0" rIns="0" bIns="0" rtlCol="0" anchor="t"/>
          <a:lstStyle/>
          <a:p>
            <a:pPr marL="0" indent="0">
              <a:lnSpc>
                <a:spcPct val="120000"/>
              </a:lnSpc>
              <a:buNone/>
            </a:pPr>
            <a:r>
              <a:rPr lang="en-US" sz="1450" dirty="0">
                <a:solidFill>
                  <a:srgbClr val="9AA7BD"/>
                </a:solidFill>
                <a:latin typeface="Calibri" pitchFamily="34" charset="0"/>
                <a:ea typeface="Calibri" pitchFamily="34" charset="-122"/>
                <a:cs typeface="Calibri" pitchFamily="34" charset="-120"/>
              </a:rPr>
              <a:t>Thẻ cho từng đèn: công tắc, thanh độ sáng, chọn màu; badge kết nối online/offline; nhật ký MQTT trực tiếp.</a:t>
            </a:r>
            <a:endParaRPr lang="en-US" sz="1450" dirty="0"/>
          </a:p>
        </p:txBody>
      </p:sp>
      <p:sp>
        <p:nvSpPr>
          <p:cNvPr id="10" name="Shape 8"/>
          <p:cNvSpPr/>
          <p:nvPr/>
        </p:nvSpPr>
        <p:spPr>
          <a:xfrm>
            <a:off x="548640" y="3611880"/>
            <a:ext cx="5394960" cy="1737360"/>
          </a:xfrm>
          <a:prstGeom prst="roundRect">
            <a:avLst>
              <a:gd name="adj" fmla="val 631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1" name="Shape 9"/>
          <p:cNvSpPr/>
          <p:nvPr/>
        </p:nvSpPr>
        <p:spPr>
          <a:xfrm>
            <a:off x="548640" y="3611880"/>
            <a:ext cx="128016" cy="1737360"/>
          </a:xfrm>
          <a:prstGeom prst="roundRect">
            <a:avLst>
              <a:gd name="adj" fmla="val 35714"/>
            </a:avLst>
          </a:prstGeom>
          <a:solidFill>
            <a:srgbClr val="4F9CFF"/>
          </a:solidFill>
          <a:ln/>
        </p:spPr>
      </p:sp>
      <p:sp>
        <p:nvSpPr>
          <p:cNvPr id="12" name="Text 10"/>
          <p:cNvSpPr/>
          <p:nvPr/>
        </p:nvSpPr>
        <p:spPr>
          <a:xfrm>
            <a:off x="868680" y="3867912"/>
            <a:ext cx="484632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Tab Nhật ký hoạt động</a:t>
            </a:r>
            <a:endParaRPr lang="en-US" sz="1900" dirty="0"/>
          </a:p>
        </p:txBody>
      </p:sp>
      <p:sp>
        <p:nvSpPr>
          <p:cNvPr id="13" name="Text 11"/>
          <p:cNvSpPr/>
          <p:nvPr/>
        </p:nvSpPr>
        <p:spPr>
          <a:xfrm>
            <a:off x="868680" y="4361688"/>
            <a:ext cx="4892040" cy="868680"/>
          </a:xfrm>
          <a:prstGeom prst="rect">
            <a:avLst/>
          </a:prstGeom>
          <a:noFill/>
          <a:ln/>
        </p:spPr>
        <p:txBody>
          <a:bodyPr wrap="square" lIns="0" tIns="0" rIns="0" bIns="0" rtlCol="0" anchor="t"/>
          <a:lstStyle/>
          <a:p>
            <a:pPr marL="0" indent="0">
              <a:lnSpc>
                <a:spcPct val="120000"/>
              </a:lnSpc>
              <a:buNone/>
            </a:pPr>
            <a:r>
              <a:rPr lang="en-US" sz="1450" dirty="0">
                <a:solidFill>
                  <a:srgbClr val="9AA7BD"/>
                </a:solidFill>
                <a:latin typeface="Calibri" pitchFamily="34" charset="0"/>
                <a:ea typeface="Calibri" pitchFamily="34" charset="-122"/>
                <a:cs typeface="Calibri" pitchFamily="34" charset="-120"/>
              </a:rPr>
              <a:t>Thống kê thời gian dùng đèn từ ThingSpeak: bảng %, biểu đồ, xuất CSV.</a:t>
            </a:r>
            <a:endParaRPr lang="en-US" sz="1450" dirty="0"/>
          </a:p>
        </p:txBody>
      </p:sp>
      <p:sp>
        <p:nvSpPr>
          <p:cNvPr id="14" name="Shape 12"/>
          <p:cNvSpPr/>
          <p:nvPr/>
        </p:nvSpPr>
        <p:spPr>
          <a:xfrm>
            <a:off x="6263640" y="1645920"/>
            <a:ext cx="5349240" cy="3886200"/>
          </a:xfrm>
          <a:prstGeom prst="roundRect">
            <a:avLst>
              <a:gd name="adj" fmla="val 2824"/>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5" name="Text 13"/>
          <p:cNvSpPr/>
          <p:nvPr/>
        </p:nvSpPr>
        <p:spPr>
          <a:xfrm>
            <a:off x="6492240" y="1783080"/>
            <a:ext cx="48463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Thời gian sử dụng theo đèn (phút)</a:t>
            </a:r>
            <a:endParaRPr lang="en-US" sz="1400" dirty="0"/>
          </a:p>
        </p:txBody>
      </p:sp>
      <p:graphicFrame>
        <p:nvGraphicFramePr>
          <p:cNvPr id="16" name="Chart 0"/>
          <p:cNvGraphicFramePr/>
          <p:nvPr/>
        </p:nvGraphicFramePr>
        <p:xfrm>
          <a:off x="6355080" y="2194560"/>
          <a:ext cx="5166360" cy="3200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MỖI NGƯỜI 1 TÍNH NĂNG</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Tính năng mở rộng của nhóm</a:t>
            </a:r>
            <a:endParaRPr lang="en-US" sz="3000" dirty="0"/>
          </a:p>
        </p:txBody>
      </p:sp>
      <p:sp>
        <p:nvSpPr>
          <p:cNvPr id="6" name="Shape 4"/>
          <p:cNvSpPr/>
          <p:nvPr/>
        </p:nvSpPr>
        <p:spPr>
          <a:xfrm>
            <a:off x="548640" y="160020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7" name="Shape 5"/>
          <p:cNvSpPr/>
          <p:nvPr/>
        </p:nvSpPr>
        <p:spPr>
          <a:xfrm>
            <a:off x="914400" y="1984248"/>
            <a:ext cx="566928" cy="566928"/>
          </a:xfrm>
          <a:prstGeom prst="ellipse">
            <a:avLst/>
          </a:prstGeom>
          <a:solidFill>
            <a:srgbClr val="4F9CFF"/>
          </a:solidFill>
          <a:ln/>
        </p:spPr>
      </p:sp>
      <p:sp>
        <p:nvSpPr>
          <p:cNvPr id="8" name="Shape 6"/>
          <p:cNvSpPr/>
          <p:nvPr/>
        </p:nvSpPr>
        <p:spPr>
          <a:xfrm>
            <a:off x="1051560" y="2121408"/>
            <a:ext cx="292608" cy="292608"/>
          </a:xfrm>
          <a:prstGeom prst="ellipse">
            <a:avLst/>
          </a:prstGeom>
          <a:solidFill>
            <a:srgbClr val="0F1420"/>
          </a:solidFill>
          <a:ln/>
        </p:spPr>
      </p:sp>
      <p:sp>
        <p:nvSpPr>
          <p:cNvPr id="9" name="Text 7"/>
          <p:cNvSpPr/>
          <p:nvPr/>
        </p:nvSpPr>
        <p:spPr>
          <a:xfrm>
            <a:off x="1645920" y="196596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Biểu đồ thống kê</a:t>
            </a:r>
            <a:endParaRPr lang="en-US" sz="1900" dirty="0"/>
          </a:p>
        </p:txBody>
      </p:sp>
      <p:sp>
        <p:nvSpPr>
          <p:cNvPr id="10" name="Text 8"/>
          <p:cNvSpPr/>
          <p:nvPr/>
        </p:nvSpPr>
        <p:spPr>
          <a:xfrm>
            <a:off x="1645920" y="2386584"/>
            <a:ext cx="4114800" cy="320040"/>
          </a:xfrm>
          <a:prstGeom prst="rect">
            <a:avLst/>
          </a:prstGeom>
          <a:noFill/>
          <a:ln/>
        </p:spPr>
        <p:txBody>
          <a:bodyPr wrap="square" lIns="0" tIns="0" rIns="0" bIns="0" rtlCol="0" anchor="ctr"/>
          <a:lstStyle/>
          <a:p>
            <a:pPr marL="0" indent="0">
              <a:buNone/>
            </a:pPr>
            <a:r>
              <a:rPr lang="en-US" sz="1200" b="1" dirty="0">
                <a:solidFill>
                  <a:srgbClr val="4F9CFF"/>
                </a:solidFill>
                <a:latin typeface="Calibri" pitchFamily="34" charset="0"/>
                <a:ea typeface="Calibri" pitchFamily="34" charset="-122"/>
                <a:cs typeface="Calibri" pitchFamily="34" charset="-120"/>
              </a:rPr>
              <a:t>Web · Người A</a:t>
            </a:r>
            <a:endParaRPr lang="en-US" sz="1200" dirty="0"/>
          </a:p>
        </p:txBody>
      </p:sp>
      <p:sp>
        <p:nvSpPr>
          <p:cNvPr id="11" name="Text 9"/>
          <p:cNvSpPr/>
          <p:nvPr/>
        </p:nvSpPr>
        <p:spPr>
          <a:xfrm>
            <a:off x="932688" y="2834640"/>
            <a:ext cx="4709160" cy="777240"/>
          </a:xfrm>
          <a:prstGeom prst="rect">
            <a:avLst/>
          </a:prstGeom>
          <a:noFill/>
          <a:ln/>
        </p:spPr>
        <p:txBody>
          <a:bodyPr wrap="square" lIns="0" tIns="0" rIns="0" bIns="0" rtlCol="0" anchor="t"/>
          <a:lstStyle/>
          <a:p>
            <a:pPr marL="0" indent="0">
              <a:lnSpc>
                <a:spcPct val="120000"/>
              </a:lnSpc>
              <a:buNone/>
            </a:pPr>
            <a:r>
              <a:rPr lang="en-US" sz="1400" dirty="0">
                <a:solidFill>
                  <a:srgbClr val="9AA7BD"/>
                </a:solidFill>
                <a:latin typeface="Calibri" pitchFamily="34" charset="0"/>
                <a:ea typeface="Calibri" pitchFamily="34" charset="-122"/>
                <a:cs typeface="Calibri" pitchFamily="34" charset="-120"/>
              </a:rPr>
              <a:t>Bar + doughnut chart hoá dữ liệu ThingSpeak.</a:t>
            </a:r>
            <a:endParaRPr lang="en-US" sz="1400" dirty="0"/>
          </a:p>
        </p:txBody>
      </p:sp>
      <p:sp>
        <p:nvSpPr>
          <p:cNvPr id="12" name="Shape 10"/>
          <p:cNvSpPr/>
          <p:nvPr/>
        </p:nvSpPr>
        <p:spPr>
          <a:xfrm>
            <a:off x="6309360" y="160020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3" name="Shape 11"/>
          <p:cNvSpPr/>
          <p:nvPr/>
        </p:nvSpPr>
        <p:spPr>
          <a:xfrm>
            <a:off x="6675120" y="1984248"/>
            <a:ext cx="566928" cy="566928"/>
          </a:xfrm>
          <a:prstGeom prst="ellipse">
            <a:avLst/>
          </a:prstGeom>
          <a:solidFill>
            <a:srgbClr val="FFAA00"/>
          </a:solidFill>
          <a:ln/>
        </p:spPr>
      </p:sp>
      <p:sp>
        <p:nvSpPr>
          <p:cNvPr id="14" name="Shape 12"/>
          <p:cNvSpPr/>
          <p:nvPr/>
        </p:nvSpPr>
        <p:spPr>
          <a:xfrm>
            <a:off x="6812280" y="2121408"/>
            <a:ext cx="292608" cy="292608"/>
          </a:xfrm>
          <a:prstGeom prst="ellipse">
            <a:avLst/>
          </a:prstGeom>
          <a:solidFill>
            <a:srgbClr val="0F1420"/>
          </a:solidFill>
          <a:ln/>
        </p:spPr>
      </p:sp>
      <p:sp>
        <p:nvSpPr>
          <p:cNvPr id="15" name="Text 13"/>
          <p:cNvSpPr/>
          <p:nvPr/>
        </p:nvSpPr>
        <p:spPr>
          <a:xfrm>
            <a:off x="7406640" y="196596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Xuất CSV + lọc</a:t>
            </a:r>
            <a:endParaRPr lang="en-US" sz="1900" dirty="0"/>
          </a:p>
        </p:txBody>
      </p:sp>
      <p:sp>
        <p:nvSpPr>
          <p:cNvPr id="16" name="Text 14"/>
          <p:cNvSpPr/>
          <p:nvPr/>
        </p:nvSpPr>
        <p:spPr>
          <a:xfrm>
            <a:off x="7406640" y="2386584"/>
            <a:ext cx="4114800" cy="320040"/>
          </a:xfrm>
          <a:prstGeom prst="rect">
            <a:avLst/>
          </a:prstGeom>
          <a:noFill/>
          <a:ln/>
        </p:spPr>
        <p:txBody>
          <a:bodyPr wrap="square" lIns="0" tIns="0" rIns="0" bIns="0" rtlCol="0" anchor="ctr"/>
          <a:lstStyle/>
          <a:p>
            <a:pPr marL="0" indent="0">
              <a:buNone/>
            </a:pPr>
            <a:r>
              <a:rPr lang="en-US" sz="1200" b="1" dirty="0">
                <a:solidFill>
                  <a:srgbClr val="FFAA00"/>
                </a:solidFill>
                <a:latin typeface="Calibri" pitchFamily="34" charset="0"/>
                <a:ea typeface="Calibri" pitchFamily="34" charset="-122"/>
                <a:cs typeface="Calibri" pitchFamily="34" charset="-120"/>
              </a:rPr>
              <a:t>Web · Người B</a:t>
            </a:r>
            <a:endParaRPr lang="en-US" sz="1200" dirty="0"/>
          </a:p>
        </p:txBody>
      </p:sp>
      <p:sp>
        <p:nvSpPr>
          <p:cNvPr id="17" name="Text 15"/>
          <p:cNvSpPr/>
          <p:nvPr/>
        </p:nvSpPr>
        <p:spPr>
          <a:xfrm>
            <a:off x="6693408" y="2834640"/>
            <a:ext cx="4709160" cy="777240"/>
          </a:xfrm>
          <a:prstGeom prst="rect">
            <a:avLst/>
          </a:prstGeom>
          <a:noFill/>
          <a:ln/>
        </p:spPr>
        <p:txBody>
          <a:bodyPr wrap="square" lIns="0" tIns="0" rIns="0" bIns="0" rtlCol="0" anchor="t"/>
          <a:lstStyle/>
          <a:p>
            <a:pPr marL="0" indent="0">
              <a:lnSpc>
                <a:spcPct val="120000"/>
              </a:lnSpc>
              <a:buNone/>
            </a:pPr>
            <a:r>
              <a:rPr lang="en-US" sz="1400" dirty="0">
                <a:solidFill>
                  <a:srgbClr val="9AA7BD"/>
                </a:solidFill>
                <a:latin typeface="Calibri" pitchFamily="34" charset="0"/>
                <a:ea typeface="Calibri" pitchFamily="34" charset="-122"/>
                <a:cs typeface="Calibri" pitchFamily="34" charset="-120"/>
              </a:rPr>
              <a:t>Tải dữ liệu sử dụng ra file CSV, chọn số bản ghi.</a:t>
            </a:r>
            <a:endParaRPr lang="en-US" sz="1400" dirty="0"/>
          </a:p>
        </p:txBody>
      </p:sp>
      <p:sp>
        <p:nvSpPr>
          <p:cNvPr id="18" name="Shape 16"/>
          <p:cNvSpPr/>
          <p:nvPr/>
        </p:nvSpPr>
        <p:spPr>
          <a:xfrm>
            <a:off x="548640" y="402336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19" name="Shape 17"/>
          <p:cNvSpPr/>
          <p:nvPr/>
        </p:nvSpPr>
        <p:spPr>
          <a:xfrm>
            <a:off x="914400" y="4407408"/>
            <a:ext cx="566928" cy="566928"/>
          </a:xfrm>
          <a:prstGeom prst="ellipse">
            <a:avLst/>
          </a:prstGeom>
          <a:solidFill>
            <a:srgbClr val="FF6B6B"/>
          </a:solidFill>
          <a:ln/>
        </p:spPr>
      </p:sp>
      <p:sp>
        <p:nvSpPr>
          <p:cNvPr id="20" name="Shape 18"/>
          <p:cNvSpPr/>
          <p:nvPr/>
        </p:nvSpPr>
        <p:spPr>
          <a:xfrm>
            <a:off x="1051560" y="4544568"/>
            <a:ext cx="292608" cy="292608"/>
          </a:xfrm>
          <a:prstGeom prst="ellipse">
            <a:avLst/>
          </a:prstGeom>
          <a:solidFill>
            <a:srgbClr val="0F1420"/>
          </a:solidFill>
          <a:ln/>
        </p:spPr>
      </p:sp>
      <p:sp>
        <p:nvSpPr>
          <p:cNvPr id="21" name="Text 19"/>
          <p:cNvSpPr/>
          <p:nvPr/>
        </p:nvSpPr>
        <p:spPr>
          <a:xfrm>
            <a:off x="1645920" y="438912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Cảm biến DHT22</a:t>
            </a:r>
            <a:endParaRPr lang="en-US" sz="1900" dirty="0"/>
          </a:p>
        </p:txBody>
      </p:sp>
      <p:sp>
        <p:nvSpPr>
          <p:cNvPr id="22" name="Text 20"/>
          <p:cNvSpPr/>
          <p:nvPr/>
        </p:nvSpPr>
        <p:spPr>
          <a:xfrm>
            <a:off x="1645920" y="4809744"/>
            <a:ext cx="4114800" cy="320040"/>
          </a:xfrm>
          <a:prstGeom prst="rect">
            <a:avLst/>
          </a:prstGeom>
          <a:noFill/>
          <a:ln/>
        </p:spPr>
        <p:txBody>
          <a:bodyPr wrap="square" lIns="0" tIns="0" rIns="0" bIns="0"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Firmware · Người C</a:t>
            </a:r>
            <a:endParaRPr lang="en-US" sz="1200" dirty="0"/>
          </a:p>
        </p:txBody>
      </p:sp>
      <p:sp>
        <p:nvSpPr>
          <p:cNvPr id="23" name="Text 21"/>
          <p:cNvSpPr/>
          <p:nvPr/>
        </p:nvSpPr>
        <p:spPr>
          <a:xfrm>
            <a:off x="932688" y="5257800"/>
            <a:ext cx="4709160" cy="777240"/>
          </a:xfrm>
          <a:prstGeom prst="rect">
            <a:avLst/>
          </a:prstGeom>
          <a:noFill/>
          <a:ln/>
        </p:spPr>
        <p:txBody>
          <a:bodyPr wrap="square" lIns="0" tIns="0" rIns="0" bIns="0" rtlCol="0" anchor="t"/>
          <a:lstStyle/>
          <a:p>
            <a:pPr marL="0" indent="0">
              <a:lnSpc>
                <a:spcPct val="120000"/>
              </a:lnSpc>
              <a:buNone/>
            </a:pPr>
            <a:r>
              <a:rPr lang="en-US" sz="1400" dirty="0">
                <a:solidFill>
                  <a:srgbClr val="9AA7BD"/>
                </a:solidFill>
                <a:latin typeface="Calibri" pitchFamily="34" charset="0"/>
                <a:ea typeface="Calibri" pitchFamily="34" charset="-122"/>
                <a:cs typeface="Calibri" pitchFamily="34" charset="-120"/>
              </a:rPr>
              <a:t>Đọc nhiệt độ/độ ẩm, publish topic esp32/sensor, hiện lên web.</a:t>
            </a:r>
            <a:endParaRPr lang="en-US" sz="1400" dirty="0"/>
          </a:p>
        </p:txBody>
      </p:sp>
      <p:sp>
        <p:nvSpPr>
          <p:cNvPr id="24" name="Shape 22"/>
          <p:cNvSpPr/>
          <p:nvPr/>
        </p:nvSpPr>
        <p:spPr>
          <a:xfrm>
            <a:off x="6309360" y="4023360"/>
            <a:ext cx="5486400" cy="2148840"/>
          </a:xfrm>
          <a:prstGeom prst="roundRect">
            <a:avLst>
              <a:gd name="adj" fmla="val 5106"/>
            </a:avLst>
          </a:prstGeom>
          <a:solidFill>
            <a:srgbClr val="1B2335"/>
          </a:solidFill>
          <a:ln w="12700">
            <a:solidFill>
              <a:srgbClr val="35415C"/>
            </a:solidFill>
            <a:prstDash val="solid"/>
          </a:ln>
          <a:effectLst>
            <a:outerShdw blurRad="127000" dist="38100" dir="5400000" algn="bl" rotWithShape="0">
              <a:srgbClr val="000000">
                <a:alpha val="35000"/>
              </a:srgbClr>
            </a:outerShdw>
          </a:effectLst>
        </p:spPr>
      </p:sp>
      <p:sp>
        <p:nvSpPr>
          <p:cNvPr id="25" name="Shape 23"/>
          <p:cNvSpPr/>
          <p:nvPr/>
        </p:nvSpPr>
        <p:spPr>
          <a:xfrm>
            <a:off x="6675120" y="4407408"/>
            <a:ext cx="566928" cy="566928"/>
          </a:xfrm>
          <a:prstGeom prst="ellipse">
            <a:avLst/>
          </a:prstGeom>
          <a:solidFill>
            <a:srgbClr val="4FE0A3"/>
          </a:solidFill>
          <a:ln/>
        </p:spPr>
      </p:sp>
      <p:sp>
        <p:nvSpPr>
          <p:cNvPr id="26" name="Shape 24"/>
          <p:cNvSpPr/>
          <p:nvPr/>
        </p:nvSpPr>
        <p:spPr>
          <a:xfrm>
            <a:off x="6812280" y="4544568"/>
            <a:ext cx="292608" cy="292608"/>
          </a:xfrm>
          <a:prstGeom prst="ellipse">
            <a:avLst/>
          </a:prstGeom>
          <a:solidFill>
            <a:srgbClr val="0F1420"/>
          </a:solidFill>
          <a:ln/>
        </p:spPr>
      </p:sp>
      <p:sp>
        <p:nvSpPr>
          <p:cNvPr id="27" name="Text 25"/>
          <p:cNvSpPr/>
          <p:nvPr/>
        </p:nvSpPr>
        <p:spPr>
          <a:xfrm>
            <a:off x="7406640" y="438912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Lịch hẹn giờ</a:t>
            </a:r>
            <a:endParaRPr lang="en-US" sz="1900" dirty="0"/>
          </a:p>
        </p:txBody>
      </p:sp>
      <p:sp>
        <p:nvSpPr>
          <p:cNvPr id="28" name="Text 26"/>
          <p:cNvSpPr/>
          <p:nvPr/>
        </p:nvSpPr>
        <p:spPr>
          <a:xfrm>
            <a:off x="7406640" y="4809744"/>
            <a:ext cx="4114800" cy="320040"/>
          </a:xfrm>
          <a:prstGeom prst="rect">
            <a:avLst/>
          </a:prstGeom>
          <a:noFill/>
          <a:ln/>
        </p:spPr>
        <p:txBody>
          <a:bodyPr wrap="square" lIns="0" tIns="0" rIns="0" bIns="0" rtlCol="0" anchor="ctr"/>
          <a:lstStyle/>
          <a:p>
            <a:pPr marL="0" indent="0">
              <a:buNone/>
            </a:pPr>
            <a:r>
              <a:rPr lang="en-US" sz="1200" b="1" dirty="0">
                <a:solidFill>
                  <a:srgbClr val="4FE0A3"/>
                </a:solidFill>
                <a:latin typeface="Calibri" pitchFamily="34" charset="0"/>
                <a:ea typeface="Calibri" pitchFamily="34" charset="-122"/>
                <a:cs typeface="Calibri" pitchFamily="34" charset="-120"/>
              </a:rPr>
              <a:t>Firmware · Người D</a:t>
            </a:r>
            <a:endParaRPr lang="en-US" sz="1200" dirty="0"/>
          </a:p>
        </p:txBody>
      </p:sp>
      <p:sp>
        <p:nvSpPr>
          <p:cNvPr id="29" name="Text 27"/>
          <p:cNvSpPr/>
          <p:nvPr/>
        </p:nvSpPr>
        <p:spPr>
          <a:xfrm>
            <a:off x="6693408" y="5257800"/>
            <a:ext cx="4709160" cy="777240"/>
          </a:xfrm>
          <a:prstGeom prst="rect">
            <a:avLst/>
          </a:prstGeom>
          <a:noFill/>
          <a:ln/>
        </p:spPr>
        <p:txBody>
          <a:bodyPr wrap="square" lIns="0" tIns="0" rIns="0" bIns="0" rtlCol="0" anchor="t"/>
          <a:lstStyle/>
          <a:p>
            <a:pPr marL="0" indent="0">
              <a:lnSpc>
                <a:spcPct val="120000"/>
              </a:lnSpc>
              <a:buNone/>
            </a:pPr>
            <a:r>
              <a:rPr lang="en-US" sz="1400" dirty="0">
                <a:solidFill>
                  <a:srgbClr val="9AA7BD"/>
                </a:solidFill>
                <a:latin typeface="Calibri" pitchFamily="34" charset="0"/>
                <a:ea typeface="Calibri" pitchFamily="34" charset="-122"/>
                <a:cs typeface="Calibri" pitchFamily="34" charset="-120"/>
              </a:rPr>
              <a:t>Tự bật/tắt đèn theo giờ (dùng NTP trên ESP32).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CHIA 2 MẢNG</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Phân công nhóm 4 người</a:t>
            </a:r>
            <a:endParaRPr lang="en-US" sz="3000" dirty="0"/>
          </a:p>
        </p:txBody>
      </p:sp>
      <p:sp>
        <p:nvSpPr>
          <p:cNvPr id="6" name="Shape 4"/>
          <p:cNvSpPr/>
          <p:nvPr/>
        </p:nvSpPr>
        <p:spPr>
          <a:xfrm>
            <a:off x="548640" y="1600200"/>
            <a:ext cx="5486400" cy="4160520"/>
          </a:xfrm>
          <a:prstGeom prst="roundRect">
            <a:avLst>
              <a:gd name="adj" fmla="val 3077"/>
            </a:avLst>
          </a:prstGeom>
          <a:solidFill>
            <a:srgbClr val="1B2335"/>
          </a:solidFill>
          <a:ln w="25400">
            <a:solidFill>
              <a:srgbClr val="4F9CFF"/>
            </a:solidFill>
            <a:prstDash val="solid"/>
          </a:ln>
          <a:effectLst>
            <a:outerShdw blurRad="127000" dist="38100" dir="5400000" algn="bl" rotWithShape="0">
              <a:srgbClr val="000000">
                <a:alpha val="35000"/>
              </a:srgbClr>
            </a:outerShdw>
          </a:effectLst>
        </p:spPr>
      </p:sp>
      <p:sp>
        <p:nvSpPr>
          <p:cNvPr id="7" name="Shape 5"/>
          <p:cNvSpPr/>
          <p:nvPr/>
        </p:nvSpPr>
        <p:spPr>
          <a:xfrm>
            <a:off x="868680" y="1920240"/>
            <a:ext cx="457200" cy="457200"/>
          </a:xfrm>
          <a:prstGeom prst="roundRect">
            <a:avLst>
              <a:gd name="adj" fmla="val 20000"/>
            </a:avLst>
          </a:prstGeom>
          <a:solidFill>
            <a:srgbClr val="4F9CFF"/>
          </a:solidFill>
          <a:ln/>
        </p:spPr>
      </p:sp>
      <p:sp>
        <p:nvSpPr>
          <p:cNvPr id="8" name="Text 6"/>
          <p:cNvSpPr/>
          <p:nvPr/>
        </p:nvSpPr>
        <p:spPr>
          <a:xfrm>
            <a:off x="1463040" y="1920240"/>
            <a:ext cx="4389120" cy="45720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Mảng Web Client</a:t>
            </a:r>
            <a:endParaRPr lang="en-US" sz="2100" dirty="0"/>
          </a:p>
        </p:txBody>
      </p:sp>
      <p:sp>
        <p:nvSpPr>
          <p:cNvPr id="9" name="Shape 7"/>
          <p:cNvSpPr/>
          <p:nvPr/>
        </p:nvSpPr>
        <p:spPr>
          <a:xfrm>
            <a:off x="960120" y="2898648"/>
            <a:ext cx="146304" cy="146304"/>
          </a:xfrm>
          <a:prstGeom prst="ellipse">
            <a:avLst/>
          </a:prstGeom>
          <a:solidFill>
            <a:srgbClr val="4F9CFF"/>
          </a:solidFill>
          <a:ln/>
        </p:spPr>
      </p:sp>
      <p:sp>
        <p:nvSpPr>
          <p:cNvPr id="10" name="Text 8"/>
          <p:cNvSpPr/>
          <p:nvPr/>
        </p:nvSpPr>
        <p:spPr>
          <a:xfrm>
            <a:off x="1280160" y="2697480"/>
            <a:ext cx="4526280" cy="777240"/>
          </a:xfrm>
          <a:prstGeom prst="rect">
            <a:avLst/>
          </a:prstGeom>
          <a:noFill/>
          <a:ln/>
        </p:spPr>
        <p:txBody>
          <a:bodyPr wrap="square" lIns="0" tIns="0" rIns="0" bIns="0" rtlCol="0" anchor="t"/>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Người A — Biểu đồ thống kê (Chart.js)</a:t>
            </a:r>
            <a:endParaRPr lang="en-US" sz="1500" dirty="0"/>
          </a:p>
        </p:txBody>
      </p:sp>
      <p:sp>
        <p:nvSpPr>
          <p:cNvPr id="11" name="Shape 9"/>
          <p:cNvSpPr/>
          <p:nvPr/>
        </p:nvSpPr>
        <p:spPr>
          <a:xfrm>
            <a:off x="960120" y="3831336"/>
            <a:ext cx="146304" cy="146304"/>
          </a:xfrm>
          <a:prstGeom prst="ellipse">
            <a:avLst/>
          </a:prstGeom>
          <a:solidFill>
            <a:srgbClr val="4F9CFF"/>
          </a:solidFill>
          <a:ln/>
        </p:spPr>
      </p:sp>
      <p:sp>
        <p:nvSpPr>
          <p:cNvPr id="12" name="Text 10"/>
          <p:cNvSpPr/>
          <p:nvPr/>
        </p:nvSpPr>
        <p:spPr>
          <a:xfrm>
            <a:off x="1280160" y="3630168"/>
            <a:ext cx="4526280" cy="777240"/>
          </a:xfrm>
          <a:prstGeom prst="rect">
            <a:avLst/>
          </a:prstGeom>
          <a:noFill/>
          <a:ln/>
        </p:spPr>
        <p:txBody>
          <a:bodyPr wrap="square" lIns="0" tIns="0" rIns="0" bIns="0" rtlCol="0" anchor="t"/>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Người B — Xuất CSV + lọc thời gian</a:t>
            </a:r>
            <a:endParaRPr lang="en-US" sz="1500" dirty="0"/>
          </a:p>
        </p:txBody>
      </p:sp>
      <p:sp>
        <p:nvSpPr>
          <p:cNvPr id="13" name="Shape 11"/>
          <p:cNvSpPr/>
          <p:nvPr/>
        </p:nvSpPr>
        <p:spPr>
          <a:xfrm>
            <a:off x="960120" y="4764024"/>
            <a:ext cx="146304" cy="146304"/>
          </a:xfrm>
          <a:prstGeom prst="ellipse">
            <a:avLst/>
          </a:prstGeom>
          <a:solidFill>
            <a:srgbClr val="4F9CFF"/>
          </a:solidFill>
          <a:ln/>
        </p:spPr>
      </p:sp>
      <p:sp>
        <p:nvSpPr>
          <p:cNvPr id="14" name="Text 12"/>
          <p:cNvSpPr/>
          <p:nvPr/>
        </p:nvSpPr>
        <p:spPr>
          <a:xfrm>
            <a:off x="1280160" y="4562856"/>
            <a:ext cx="4526280" cy="777240"/>
          </a:xfrm>
          <a:prstGeom prst="rect">
            <a:avLst/>
          </a:prstGeom>
          <a:noFill/>
          <a:ln/>
        </p:spPr>
        <p:txBody>
          <a:bodyPr wrap="square" lIns="0" tIns="0" rIns="0" bIns="0" rtlCol="0" anchor="t"/>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Chung: giao diện điều khiển, MQTT context, hiển thị cảm biến</a:t>
            </a:r>
            <a:endParaRPr lang="en-US" sz="1500" dirty="0"/>
          </a:p>
        </p:txBody>
      </p:sp>
      <p:sp>
        <p:nvSpPr>
          <p:cNvPr id="15" name="Shape 13"/>
          <p:cNvSpPr/>
          <p:nvPr/>
        </p:nvSpPr>
        <p:spPr>
          <a:xfrm>
            <a:off x="6309360" y="1600200"/>
            <a:ext cx="5486400" cy="4160520"/>
          </a:xfrm>
          <a:prstGeom prst="roundRect">
            <a:avLst>
              <a:gd name="adj" fmla="val 3077"/>
            </a:avLst>
          </a:prstGeom>
          <a:solidFill>
            <a:srgbClr val="1B2335"/>
          </a:solidFill>
          <a:ln w="25400">
            <a:solidFill>
              <a:srgbClr val="4FE0A3"/>
            </a:solidFill>
            <a:prstDash val="solid"/>
          </a:ln>
          <a:effectLst>
            <a:outerShdw blurRad="127000" dist="38100" dir="5400000" algn="bl" rotWithShape="0">
              <a:srgbClr val="000000">
                <a:alpha val="35000"/>
              </a:srgbClr>
            </a:outerShdw>
          </a:effectLst>
        </p:spPr>
      </p:sp>
      <p:sp>
        <p:nvSpPr>
          <p:cNvPr id="16" name="Shape 14"/>
          <p:cNvSpPr/>
          <p:nvPr/>
        </p:nvSpPr>
        <p:spPr>
          <a:xfrm>
            <a:off x="6629400" y="1920240"/>
            <a:ext cx="457200" cy="457200"/>
          </a:xfrm>
          <a:prstGeom prst="roundRect">
            <a:avLst>
              <a:gd name="adj" fmla="val 20000"/>
            </a:avLst>
          </a:prstGeom>
          <a:solidFill>
            <a:srgbClr val="4FE0A3"/>
          </a:solidFill>
          <a:ln/>
        </p:spPr>
      </p:sp>
      <p:sp>
        <p:nvSpPr>
          <p:cNvPr id="17" name="Text 15"/>
          <p:cNvSpPr/>
          <p:nvPr/>
        </p:nvSpPr>
        <p:spPr>
          <a:xfrm>
            <a:off x="7223760" y="1920240"/>
            <a:ext cx="4389120" cy="457200"/>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Mảng Firmware / Wokwi</a:t>
            </a:r>
            <a:endParaRPr lang="en-US" sz="2100" dirty="0"/>
          </a:p>
        </p:txBody>
      </p:sp>
      <p:sp>
        <p:nvSpPr>
          <p:cNvPr id="18" name="Shape 16"/>
          <p:cNvSpPr/>
          <p:nvPr/>
        </p:nvSpPr>
        <p:spPr>
          <a:xfrm>
            <a:off x="6720840" y="2898648"/>
            <a:ext cx="146304" cy="146304"/>
          </a:xfrm>
          <a:prstGeom prst="ellipse">
            <a:avLst/>
          </a:prstGeom>
          <a:solidFill>
            <a:srgbClr val="4FE0A3"/>
          </a:solidFill>
          <a:ln/>
        </p:spPr>
      </p:sp>
      <p:sp>
        <p:nvSpPr>
          <p:cNvPr id="19" name="Text 17"/>
          <p:cNvSpPr/>
          <p:nvPr/>
        </p:nvSpPr>
        <p:spPr>
          <a:xfrm>
            <a:off x="7040880" y="2697480"/>
            <a:ext cx="4526280" cy="777240"/>
          </a:xfrm>
          <a:prstGeom prst="rect">
            <a:avLst/>
          </a:prstGeom>
          <a:noFill/>
          <a:ln/>
        </p:spPr>
        <p:txBody>
          <a:bodyPr wrap="square" lIns="0" tIns="0" rIns="0" bIns="0" rtlCol="0" anchor="t"/>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Người C — Cảm biến DHT22 + mạch</a:t>
            </a:r>
            <a:endParaRPr lang="en-US" sz="1500" dirty="0"/>
          </a:p>
        </p:txBody>
      </p:sp>
      <p:sp>
        <p:nvSpPr>
          <p:cNvPr id="20" name="Shape 18"/>
          <p:cNvSpPr/>
          <p:nvPr/>
        </p:nvSpPr>
        <p:spPr>
          <a:xfrm>
            <a:off x="6720840" y="3831336"/>
            <a:ext cx="146304" cy="146304"/>
          </a:xfrm>
          <a:prstGeom prst="ellipse">
            <a:avLst/>
          </a:prstGeom>
          <a:solidFill>
            <a:srgbClr val="4FE0A3"/>
          </a:solidFill>
          <a:ln/>
        </p:spPr>
      </p:sp>
      <p:sp>
        <p:nvSpPr>
          <p:cNvPr id="21" name="Text 19"/>
          <p:cNvSpPr/>
          <p:nvPr/>
        </p:nvSpPr>
        <p:spPr>
          <a:xfrm>
            <a:off x="7040880" y="3630168"/>
            <a:ext cx="4526280" cy="777240"/>
          </a:xfrm>
          <a:prstGeom prst="rect">
            <a:avLst/>
          </a:prstGeom>
          <a:noFill/>
          <a:ln/>
        </p:spPr>
        <p:txBody>
          <a:bodyPr wrap="square" lIns="0" tIns="0" rIns="0" bIns="0" rtlCol="0" anchor="t"/>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Người D — Lịch hẹn giờ bật/tắt</a:t>
            </a:r>
            <a:endParaRPr lang="en-US" sz="1500" dirty="0"/>
          </a:p>
        </p:txBody>
      </p:sp>
      <p:sp>
        <p:nvSpPr>
          <p:cNvPr id="22" name="Shape 20"/>
          <p:cNvSpPr/>
          <p:nvPr/>
        </p:nvSpPr>
        <p:spPr>
          <a:xfrm>
            <a:off x="6720840" y="4764024"/>
            <a:ext cx="146304" cy="146304"/>
          </a:xfrm>
          <a:prstGeom prst="ellipse">
            <a:avLst/>
          </a:prstGeom>
          <a:solidFill>
            <a:srgbClr val="4FE0A3"/>
          </a:solidFill>
          <a:ln/>
        </p:spPr>
      </p:sp>
      <p:sp>
        <p:nvSpPr>
          <p:cNvPr id="23" name="Text 21"/>
          <p:cNvSpPr/>
          <p:nvPr/>
        </p:nvSpPr>
        <p:spPr>
          <a:xfrm>
            <a:off x="7040880" y="4562856"/>
            <a:ext cx="4526280" cy="777240"/>
          </a:xfrm>
          <a:prstGeom prst="rect">
            <a:avLst/>
          </a:prstGeom>
          <a:noFill/>
          <a:ln/>
        </p:spPr>
        <p:txBody>
          <a:bodyPr wrap="square" lIns="0" tIns="0" rIns="0" bIns="0" rtlCol="0" anchor="t"/>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Chung: đèn RGB, PIR, MQTT, ThingSpeak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GỠ LỖI THỰC TẾ</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Vấn đề gặp phải &amp; cách xử lý</a:t>
            </a:r>
            <a:endParaRPr lang="en-US" sz="3000" dirty="0"/>
          </a:p>
        </p:txBody>
      </p:sp>
      <p:sp>
        <p:nvSpPr>
          <p:cNvPr id="6" name="Shape 4"/>
          <p:cNvSpPr/>
          <p:nvPr/>
        </p:nvSpPr>
        <p:spPr>
          <a:xfrm>
            <a:off x="548640" y="1572768"/>
            <a:ext cx="11064240" cy="713232"/>
          </a:xfrm>
          <a:prstGeom prst="roundRect">
            <a:avLst>
              <a:gd name="adj" fmla="val 11538"/>
            </a:avLst>
          </a:prstGeom>
          <a:solidFill>
            <a:srgbClr val="1B2335"/>
          </a:solidFill>
          <a:ln/>
        </p:spPr>
      </p:sp>
      <p:sp>
        <p:nvSpPr>
          <p:cNvPr id="7" name="Shape 5"/>
          <p:cNvSpPr/>
          <p:nvPr/>
        </p:nvSpPr>
        <p:spPr>
          <a:xfrm>
            <a:off x="777240" y="1773936"/>
            <a:ext cx="310896" cy="310896"/>
          </a:xfrm>
          <a:prstGeom prst="ellipse">
            <a:avLst/>
          </a:prstGeom>
          <a:solidFill>
            <a:srgbClr val="FF6B6B"/>
          </a:solidFill>
          <a:ln/>
        </p:spPr>
      </p:sp>
      <p:sp>
        <p:nvSpPr>
          <p:cNvPr id="8" name="Text 6"/>
          <p:cNvSpPr/>
          <p:nvPr/>
        </p:nvSpPr>
        <p:spPr>
          <a:xfrm>
            <a:off x="1280160" y="1572768"/>
            <a:ext cx="3749040" cy="713232"/>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Web rớt kết nối liên tục</a:t>
            </a:r>
            <a:endParaRPr lang="en-US" sz="1550" dirty="0"/>
          </a:p>
        </p:txBody>
      </p:sp>
      <p:sp>
        <p:nvSpPr>
          <p:cNvPr id="9" name="Text 7"/>
          <p:cNvSpPr/>
          <p:nvPr/>
        </p:nvSpPr>
        <p:spPr>
          <a:xfrm>
            <a:off x="5120640" y="1572768"/>
            <a:ext cx="6309360" cy="713232"/>
          </a:xfrm>
          <a:prstGeom prst="rect">
            <a:avLst/>
          </a:prstGeom>
          <a:noFill/>
          <a:ln/>
        </p:spPr>
        <p:txBody>
          <a:bodyPr wrap="square" lIns="0" tIns="0" rIns="0" bIns="0" rtlCol="0" anchor="ctr"/>
          <a:lstStyle/>
          <a:p>
            <a:pPr marL="0" indent="0">
              <a:lnSpc>
                <a:spcPct val="110000"/>
              </a:lnSpc>
              <a:buNone/>
            </a:pPr>
            <a:r>
              <a:rPr lang="en-US" sz="1350" dirty="0">
                <a:solidFill>
                  <a:srgbClr val="9AA7BD"/>
                </a:solidFill>
                <a:latin typeface="Calibri" pitchFamily="34" charset="0"/>
                <a:ea typeface="Calibri" pitchFamily="34" charset="-122"/>
                <a:cs typeface="Calibri" pitchFamily="34" charset="-120"/>
              </a:rPr>
              <a:t>Trùng Client ID do StrictMode + không huỷ timeout → thêm hậu tố ngẫu nhiên &amp; huỷ đúng.</a:t>
            </a:r>
            <a:endParaRPr lang="en-US" sz="1350" dirty="0"/>
          </a:p>
        </p:txBody>
      </p:sp>
      <p:sp>
        <p:nvSpPr>
          <p:cNvPr id="10" name="Shape 8"/>
          <p:cNvSpPr/>
          <p:nvPr/>
        </p:nvSpPr>
        <p:spPr>
          <a:xfrm>
            <a:off x="548640" y="2414016"/>
            <a:ext cx="11064240" cy="713232"/>
          </a:xfrm>
          <a:prstGeom prst="roundRect">
            <a:avLst>
              <a:gd name="adj" fmla="val 11538"/>
            </a:avLst>
          </a:prstGeom>
          <a:solidFill>
            <a:srgbClr val="1B2335"/>
          </a:solidFill>
          <a:ln/>
        </p:spPr>
      </p:sp>
      <p:sp>
        <p:nvSpPr>
          <p:cNvPr id="11" name="Shape 9"/>
          <p:cNvSpPr/>
          <p:nvPr/>
        </p:nvSpPr>
        <p:spPr>
          <a:xfrm>
            <a:off x="777240" y="2615184"/>
            <a:ext cx="310896" cy="310896"/>
          </a:xfrm>
          <a:prstGeom prst="ellipse">
            <a:avLst/>
          </a:prstGeom>
          <a:solidFill>
            <a:srgbClr val="FFAA00"/>
          </a:solidFill>
          <a:ln/>
        </p:spPr>
      </p:sp>
      <p:sp>
        <p:nvSpPr>
          <p:cNvPr id="12" name="Text 10"/>
          <p:cNvSpPr/>
          <p:nvPr/>
        </p:nvSpPr>
        <p:spPr>
          <a:xfrm>
            <a:off x="1280160" y="2414016"/>
            <a:ext cx="3749040" cy="713232"/>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DHT22 không đọc được</a:t>
            </a:r>
            <a:endParaRPr lang="en-US" sz="1550" dirty="0"/>
          </a:p>
        </p:txBody>
      </p:sp>
      <p:sp>
        <p:nvSpPr>
          <p:cNvPr id="13" name="Text 11"/>
          <p:cNvSpPr/>
          <p:nvPr/>
        </p:nvSpPr>
        <p:spPr>
          <a:xfrm>
            <a:off x="5120640" y="2414016"/>
            <a:ext cx="6309360" cy="713232"/>
          </a:xfrm>
          <a:prstGeom prst="rect">
            <a:avLst/>
          </a:prstGeom>
          <a:noFill/>
          <a:ln/>
        </p:spPr>
        <p:txBody>
          <a:bodyPr wrap="square" lIns="0" tIns="0" rIns="0" bIns="0" rtlCol="0" anchor="ctr"/>
          <a:lstStyle/>
          <a:p>
            <a:pPr marL="0" indent="0">
              <a:lnSpc>
                <a:spcPct val="110000"/>
              </a:lnSpc>
              <a:buNone/>
            </a:pPr>
            <a:r>
              <a:rPr lang="en-US" sz="1350" dirty="0">
                <a:solidFill>
                  <a:srgbClr val="9AA7BD"/>
                </a:solidFill>
                <a:latin typeface="Calibri" pitchFamily="34" charset="0"/>
                <a:ea typeface="Calibri" pitchFamily="34" charset="-122"/>
                <a:cs typeface="Calibri" pitchFamily="34" charset="-120"/>
              </a:rPr>
              <a:t>Nối nhầm GPIO 34 (input-only) → chuyển sang GPIO 15 xuất/nhập được.</a:t>
            </a:r>
            <a:endParaRPr lang="en-US" sz="1350" dirty="0"/>
          </a:p>
        </p:txBody>
      </p:sp>
      <p:sp>
        <p:nvSpPr>
          <p:cNvPr id="14" name="Shape 12"/>
          <p:cNvSpPr/>
          <p:nvPr/>
        </p:nvSpPr>
        <p:spPr>
          <a:xfrm>
            <a:off x="548640" y="3255264"/>
            <a:ext cx="11064240" cy="713232"/>
          </a:xfrm>
          <a:prstGeom prst="roundRect">
            <a:avLst>
              <a:gd name="adj" fmla="val 11538"/>
            </a:avLst>
          </a:prstGeom>
          <a:solidFill>
            <a:srgbClr val="1B2335"/>
          </a:solidFill>
          <a:ln/>
        </p:spPr>
      </p:sp>
      <p:sp>
        <p:nvSpPr>
          <p:cNvPr id="15" name="Shape 13"/>
          <p:cNvSpPr/>
          <p:nvPr/>
        </p:nvSpPr>
        <p:spPr>
          <a:xfrm>
            <a:off x="777240" y="3456432"/>
            <a:ext cx="310896" cy="310896"/>
          </a:xfrm>
          <a:prstGeom prst="ellipse">
            <a:avLst/>
          </a:prstGeom>
          <a:solidFill>
            <a:srgbClr val="4F9CFF"/>
          </a:solidFill>
          <a:ln/>
        </p:spPr>
      </p:sp>
      <p:sp>
        <p:nvSpPr>
          <p:cNvPr id="16" name="Text 14"/>
          <p:cNvSpPr/>
          <p:nvPr/>
        </p:nvSpPr>
        <p:spPr>
          <a:xfrm>
            <a:off x="1280160" y="3255264"/>
            <a:ext cx="3749040" cy="713232"/>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DHT22 vẫn TIMEOUT</a:t>
            </a:r>
            <a:endParaRPr lang="en-US" sz="1550" dirty="0"/>
          </a:p>
        </p:txBody>
      </p:sp>
      <p:sp>
        <p:nvSpPr>
          <p:cNvPr id="17" name="Text 15"/>
          <p:cNvSpPr/>
          <p:nvPr/>
        </p:nvSpPr>
        <p:spPr>
          <a:xfrm>
            <a:off x="5120640" y="3255264"/>
            <a:ext cx="6309360" cy="713232"/>
          </a:xfrm>
          <a:prstGeom prst="rect">
            <a:avLst/>
          </a:prstGeom>
          <a:noFill/>
          <a:ln/>
        </p:spPr>
        <p:txBody>
          <a:bodyPr wrap="square" lIns="0" tIns="0" rIns="0" bIns="0" rtlCol="0" anchor="ctr"/>
          <a:lstStyle/>
          <a:p>
            <a:pPr marL="0" indent="0">
              <a:lnSpc>
                <a:spcPct val="110000"/>
              </a:lnSpc>
              <a:buNone/>
            </a:pPr>
            <a:r>
              <a:rPr lang="en-US" sz="1350" dirty="0">
                <a:solidFill>
                  <a:srgbClr val="9AA7BD"/>
                </a:solidFill>
                <a:latin typeface="Calibri" pitchFamily="34" charset="0"/>
                <a:ea typeface="Calibri" pitchFamily="34" charset="-122"/>
                <a:cs typeface="Calibri" pitchFamily="34" charset="-120"/>
              </a:rPr>
              <a:t>Thư viện DHTesp không hợp Wokwi → đổi sang thư viện Adafruit DHT.</a:t>
            </a:r>
            <a:endParaRPr lang="en-US" sz="1350" dirty="0"/>
          </a:p>
        </p:txBody>
      </p:sp>
      <p:sp>
        <p:nvSpPr>
          <p:cNvPr id="18" name="Shape 16"/>
          <p:cNvSpPr/>
          <p:nvPr/>
        </p:nvSpPr>
        <p:spPr>
          <a:xfrm>
            <a:off x="548640" y="4096512"/>
            <a:ext cx="11064240" cy="713232"/>
          </a:xfrm>
          <a:prstGeom prst="roundRect">
            <a:avLst>
              <a:gd name="adj" fmla="val 11538"/>
            </a:avLst>
          </a:prstGeom>
          <a:solidFill>
            <a:srgbClr val="1B2335"/>
          </a:solidFill>
          <a:ln/>
        </p:spPr>
      </p:sp>
      <p:sp>
        <p:nvSpPr>
          <p:cNvPr id="19" name="Shape 17"/>
          <p:cNvSpPr/>
          <p:nvPr/>
        </p:nvSpPr>
        <p:spPr>
          <a:xfrm>
            <a:off x="777240" y="4297680"/>
            <a:ext cx="310896" cy="310896"/>
          </a:xfrm>
          <a:prstGeom prst="ellipse">
            <a:avLst/>
          </a:prstGeom>
          <a:solidFill>
            <a:srgbClr val="B07CFF"/>
          </a:solidFill>
          <a:ln/>
        </p:spPr>
      </p:sp>
      <p:sp>
        <p:nvSpPr>
          <p:cNvPr id="20" name="Text 18"/>
          <p:cNvSpPr/>
          <p:nvPr/>
        </p:nvSpPr>
        <p:spPr>
          <a:xfrm>
            <a:off x="1280160" y="4096512"/>
            <a:ext cx="3749040" cy="713232"/>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Kết nối chập chờn</a:t>
            </a:r>
            <a:endParaRPr lang="en-US" sz="1550" dirty="0"/>
          </a:p>
        </p:txBody>
      </p:sp>
      <p:sp>
        <p:nvSpPr>
          <p:cNvPr id="21" name="Text 19"/>
          <p:cNvSpPr/>
          <p:nvPr/>
        </p:nvSpPr>
        <p:spPr>
          <a:xfrm>
            <a:off x="5120640" y="4096512"/>
            <a:ext cx="6309360" cy="713232"/>
          </a:xfrm>
          <a:prstGeom prst="rect">
            <a:avLst/>
          </a:prstGeom>
          <a:noFill/>
          <a:ln/>
        </p:spPr>
        <p:txBody>
          <a:bodyPr wrap="square" lIns="0" tIns="0" rIns="0" bIns="0" rtlCol="0" anchor="ctr"/>
          <a:lstStyle/>
          <a:p>
            <a:pPr marL="0" indent="0">
              <a:lnSpc>
                <a:spcPct val="110000"/>
              </a:lnSpc>
              <a:buNone/>
            </a:pPr>
            <a:r>
              <a:rPr lang="en-US" sz="1350" dirty="0">
                <a:solidFill>
                  <a:srgbClr val="9AA7BD"/>
                </a:solidFill>
                <a:latin typeface="Calibri" pitchFamily="34" charset="0"/>
                <a:ea typeface="Calibri" pitchFamily="34" charset="-122"/>
                <a:cs typeface="Calibri" pitchFamily="34" charset="-120"/>
              </a:rPr>
              <a:t>Bỏ timeout 5s lúc mới kết nối + ESP32 broadcast 30s→15s để đồng bộ ổn định.</a:t>
            </a:r>
            <a:endParaRPr lang="en-US" sz="1350" dirty="0"/>
          </a:p>
        </p:txBody>
      </p:sp>
      <p:sp>
        <p:nvSpPr>
          <p:cNvPr id="22" name="Shape 20"/>
          <p:cNvSpPr/>
          <p:nvPr/>
        </p:nvSpPr>
        <p:spPr>
          <a:xfrm>
            <a:off x="548640" y="4937760"/>
            <a:ext cx="11064240" cy="713232"/>
          </a:xfrm>
          <a:prstGeom prst="roundRect">
            <a:avLst>
              <a:gd name="adj" fmla="val 11538"/>
            </a:avLst>
          </a:prstGeom>
          <a:solidFill>
            <a:srgbClr val="1B2335"/>
          </a:solidFill>
          <a:ln/>
        </p:spPr>
      </p:sp>
      <p:sp>
        <p:nvSpPr>
          <p:cNvPr id="23" name="Shape 21"/>
          <p:cNvSpPr/>
          <p:nvPr/>
        </p:nvSpPr>
        <p:spPr>
          <a:xfrm>
            <a:off x="777240" y="5138928"/>
            <a:ext cx="310896" cy="310896"/>
          </a:xfrm>
          <a:prstGeom prst="ellipse">
            <a:avLst/>
          </a:prstGeom>
          <a:solidFill>
            <a:srgbClr val="4FE0A3"/>
          </a:solidFill>
          <a:ln/>
        </p:spPr>
      </p:sp>
      <p:sp>
        <p:nvSpPr>
          <p:cNvPr id="24" name="Text 22"/>
          <p:cNvSpPr/>
          <p:nvPr/>
        </p:nvSpPr>
        <p:spPr>
          <a:xfrm>
            <a:off x="1280160" y="4937760"/>
            <a:ext cx="3749040" cy="713232"/>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Thống kê phóng đại (771 giờ)</a:t>
            </a:r>
            <a:endParaRPr lang="en-US" sz="1550" dirty="0"/>
          </a:p>
        </p:txBody>
      </p:sp>
      <p:sp>
        <p:nvSpPr>
          <p:cNvPr id="25" name="Text 23"/>
          <p:cNvSpPr/>
          <p:nvPr/>
        </p:nvSpPr>
        <p:spPr>
          <a:xfrm>
            <a:off x="5120640" y="4937760"/>
            <a:ext cx="6309360" cy="713232"/>
          </a:xfrm>
          <a:prstGeom prst="rect">
            <a:avLst/>
          </a:prstGeom>
          <a:noFill/>
          <a:ln/>
        </p:spPr>
        <p:txBody>
          <a:bodyPr wrap="square" lIns="0" tIns="0" rIns="0" bIns="0" rtlCol="0" anchor="ctr"/>
          <a:lstStyle/>
          <a:p>
            <a:pPr marL="0" indent="0">
              <a:lnSpc>
                <a:spcPct val="110000"/>
              </a:lnSpc>
              <a:buNone/>
            </a:pPr>
            <a:r>
              <a:rPr lang="en-US" sz="1350" dirty="0">
                <a:solidFill>
                  <a:srgbClr val="9AA7BD"/>
                </a:solidFill>
                <a:latin typeface="Calibri" pitchFamily="34" charset="0"/>
                <a:ea typeface="Calibri" pitchFamily="34" charset="-122"/>
                <a:cs typeface="Calibri" pitchFamily="34" charset="-120"/>
              </a:rPr>
              <a:t>Giới hạn ngưỡng khoảng trống dữ liệu khi tính thời gian → số liệu hợp lý.</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502920" y="457200"/>
            <a:ext cx="310896" cy="310896"/>
          </a:xfrm>
          <a:prstGeom prst="roundRect">
            <a:avLst>
              <a:gd name="adj" fmla="val 17647"/>
            </a:avLst>
          </a:prstGeom>
          <a:solidFill>
            <a:srgbClr val="FFAA00"/>
          </a:solidFill>
          <a:ln/>
        </p:spPr>
      </p:sp>
      <p:sp>
        <p:nvSpPr>
          <p:cNvPr id="3" name="Shape 1"/>
          <p:cNvSpPr/>
          <p:nvPr/>
        </p:nvSpPr>
        <p:spPr>
          <a:xfrm>
            <a:off x="576072" y="530352"/>
            <a:ext cx="164592" cy="164592"/>
          </a:xfrm>
          <a:prstGeom prst="roundRect">
            <a:avLst>
              <a:gd name="adj" fmla="val 22222"/>
            </a:avLst>
          </a:prstGeom>
          <a:solidFill>
            <a:srgbClr val="0F1420"/>
          </a:solidFill>
          <a:ln/>
        </p:spPr>
      </p:sp>
      <p:sp>
        <p:nvSpPr>
          <p:cNvPr id="4" name="Text 2"/>
          <p:cNvSpPr/>
          <p:nvPr/>
        </p:nvSpPr>
        <p:spPr>
          <a:xfrm>
            <a:off x="960120" y="384048"/>
            <a:ext cx="9144000" cy="256032"/>
          </a:xfrm>
          <a:prstGeom prst="rect">
            <a:avLst/>
          </a:prstGeom>
          <a:noFill/>
          <a:ln/>
        </p:spPr>
        <p:txBody>
          <a:bodyPr wrap="square" lIns="0" tIns="0" rIns="0" bIns="0" rtlCol="0" anchor="ctr"/>
          <a:lstStyle/>
          <a:p>
            <a:pPr marL="0" indent="0">
              <a:buNone/>
            </a:pPr>
            <a:r>
              <a:rPr lang="en-US" sz="1100" b="1" kern="0" spc="200" dirty="0">
                <a:solidFill>
                  <a:srgbClr val="FFAA00"/>
                </a:solidFill>
                <a:latin typeface="Calibri" pitchFamily="34" charset="0"/>
                <a:ea typeface="Calibri" pitchFamily="34" charset="-122"/>
                <a:cs typeface="Calibri" pitchFamily="34" charset="-120"/>
              </a:rPr>
              <a:t>ĐÁNH GIÁ</a:t>
            </a:r>
            <a:endParaRPr lang="en-US" sz="1100" dirty="0"/>
          </a:p>
        </p:txBody>
      </p:sp>
      <p:sp>
        <p:nvSpPr>
          <p:cNvPr id="5" name="Text 3"/>
          <p:cNvSpPr/>
          <p:nvPr/>
        </p:nvSpPr>
        <p:spPr>
          <a:xfrm>
            <a:off x="941832" y="603504"/>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Hạn chế &amp; hướng phát triển</a:t>
            </a:r>
            <a:endParaRPr lang="en-US" sz="3000" dirty="0"/>
          </a:p>
        </p:txBody>
      </p:sp>
      <p:sp>
        <p:nvSpPr>
          <p:cNvPr id="6" name="Shape 4"/>
          <p:cNvSpPr/>
          <p:nvPr/>
        </p:nvSpPr>
        <p:spPr>
          <a:xfrm>
            <a:off x="548640" y="1600200"/>
            <a:ext cx="5486400" cy="4160520"/>
          </a:xfrm>
          <a:prstGeom prst="roundRect">
            <a:avLst>
              <a:gd name="adj" fmla="val 3077"/>
            </a:avLst>
          </a:prstGeom>
          <a:solidFill>
            <a:srgbClr val="1B2335"/>
          </a:solidFill>
          <a:ln w="25400">
            <a:solidFill>
              <a:srgbClr val="FF6B6B"/>
            </a:solidFill>
            <a:prstDash val="solid"/>
          </a:ln>
          <a:effectLst>
            <a:outerShdw blurRad="127000" dist="38100" dir="5400000" algn="bl" rotWithShape="0">
              <a:srgbClr val="000000">
                <a:alpha val="35000"/>
              </a:srgbClr>
            </a:outerShdw>
          </a:effectLst>
        </p:spPr>
      </p:sp>
      <p:sp>
        <p:nvSpPr>
          <p:cNvPr id="7" name="Text 5"/>
          <p:cNvSpPr/>
          <p:nvPr/>
        </p:nvSpPr>
        <p:spPr>
          <a:xfrm>
            <a:off x="960120" y="1874520"/>
            <a:ext cx="47548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Hạn chế hiện tại</a:t>
            </a:r>
            <a:endParaRPr lang="en-US" sz="2000" dirty="0"/>
          </a:p>
        </p:txBody>
      </p:sp>
      <p:sp>
        <p:nvSpPr>
          <p:cNvPr id="8" name="Shape 6"/>
          <p:cNvSpPr/>
          <p:nvPr/>
        </p:nvSpPr>
        <p:spPr>
          <a:xfrm>
            <a:off x="960120" y="2679192"/>
            <a:ext cx="201168" cy="201168"/>
          </a:xfrm>
          <a:prstGeom prst="roundRect">
            <a:avLst>
              <a:gd name="adj" fmla="val 22727"/>
            </a:avLst>
          </a:prstGeom>
          <a:solidFill>
            <a:srgbClr val="FF6B6B"/>
          </a:solidFill>
          <a:ln/>
        </p:spPr>
      </p:sp>
      <p:sp>
        <p:nvSpPr>
          <p:cNvPr id="9" name="Text 7"/>
          <p:cNvSpPr/>
          <p:nvPr/>
        </p:nvSpPr>
        <p:spPr>
          <a:xfrm>
            <a:off x="1325880" y="253288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TLS bỏ qua xác thực chứng chỉ (chỉ hợp demo Wokwi)</a:t>
            </a:r>
            <a:endParaRPr lang="en-US" sz="1450" dirty="0"/>
          </a:p>
        </p:txBody>
      </p:sp>
      <p:sp>
        <p:nvSpPr>
          <p:cNvPr id="10" name="Shape 8"/>
          <p:cNvSpPr/>
          <p:nvPr/>
        </p:nvSpPr>
        <p:spPr>
          <a:xfrm>
            <a:off x="960120" y="3456432"/>
            <a:ext cx="201168" cy="201168"/>
          </a:xfrm>
          <a:prstGeom prst="roundRect">
            <a:avLst>
              <a:gd name="adj" fmla="val 22727"/>
            </a:avLst>
          </a:prstGeom>
          <a:solidFill>
            <a:srgbClr val="FF6B6B"/>
          </a:solidFill>
          <a:ln/>
        </p:spPr>
      </p:sp>
      <p:sp>
        <p:nvSpPr>
          <p:cNvPr id="11" name="Text 9"/>
          <p:cNvSpPr/>
          <p:nvPr/>
        </p:nvSpPr>
        <p:spPr>
          <a:xfrm>
            <a:off x="1325880" y="331012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ThingSpeak chỉ log ON/OFF, không log độ sáng/màu</a:t>
            </a:r>
            <a:endParaRPr lang="en-US" sz="1450" dirty="0"/>
          </a:p>
        </p:txBody>
      </p:sp>
      <p:sp>
        <p:nvSpPr>
          <p:cNvPr id="12" name="Shape 10"/>
          <p:cNvSpPr/>
          <p:nvPr/>
        </p:nvSpPr>
        <p:spPr>
          <a:xfrm>
            <a:off x="960120" y="4233672"/>
            <a:ext cx="201168" cy="201168"/>
          </a:xfrm>
          <a:prstGeom prst="roundRect">
            <a:avLst>
              <a:gd name="adj" fmla="val 22727"/>
            </a:avLst>
          </a:prstGeom>
          <a:solidFill>
            <a:srgbClr val="FF6B6B"/>
          </a:solidFill>
          <a:ln/>
        </p:spPr>
      </p:sp>
      <p:sp>
        <p:nvSpPr>
          <p:cNvPr id="13" name="Text 11"/>
          <p:cNvSpPr/>
          <p:nvPr/>
        </p:nvSpPr>
        <p:spPr>
          <a:xfrm>
            <a:off x="1325880" y="408736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Thống kê thời gian còn sai số do log thưa (on-change)</a:t>
            </a:r>
            <a:endParaRPr lang="en-US" sz="1450" dirty="0"/>
          </a:p>
        </p:txBody>
      </p:sp>
      <p:sp>
        <p:nvSpPr>
          <p:cNvPr id="14" name="Shape 12"/>
          <p:cNvSpPr/>
          <p:nvPr/>
        </p:nvSpPr>
        <p:spPr>
          <a:xfrm>
            <a:off x="960120" y="5010912"/>
            <a:ext cx="201168" cy="201168"/>
          </a:xfrm>
          <a:prstGeom prst="roundRect">
            <a:avLst>
              <a:gd name="adj" fmla="val 22727"/>
            </a:avLst>
          </a:prstGeom>
          <a:solidFill>
            <a:srgbClr val="FF6B6B"/>
          </a:solidFill>
          <a:ln/>
        </p:spPr>
      </p:sp>
      <p:sp>
        <p:nvSpPr>
          <p:cNvPr id="15" name="Text 13"/>
          <p:cNvSpPr/>
          <p:nvPr/>
        </p:nvSpPr>
        <p:spPr>
          <a:xfrm>
            <a:off x="1325880" y="486460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Chưa có xác thực người dùng cho web</a:t>
            </a:r>
            <a:endParaRPr lang="en-US" sz="1450" dirty="0"/>
          </a:p>
        </p:txBody>
      </p:sp>
      <p:sp>
        <p:nvSpPr>
          <p:cNvPr id="16" name="Shape 14"/>
          <p:cNvSpPr/>
          <p:nvPr/>
        </p:nvSpPr>
        <p:spPr>
          <a:xfrm>
            <a:off x="6309360" y="1600200"/>
            <a:ext cx="5486400" cy="4160520"/>
          </a:xfrm>
          <a:prstGeom prst="roundRect">
            <a:avLst>
              <a:gd name="adj" fmla="val 3077"/>
            </a:avLst>
          </a:prstGeom>
          <a:solidFill>
            <a:srgbClr val="1B2335"/>
          </a:solidFill>
          <a:ln w="25400">
            <a:solidFill>
              <a:srgbClr val="4FE0A3"/>
            </a:solidFill>
            <a:prstDash val="solid"/>
          </a:ln>
          <a:effectLst>
            <a:outerShdw blurRad="127000" dist="38100" dir="5400000" algn="bl" rotWithShape="0">
              <a:srgbClr val="000000">
                <a:alpha val="35000"/>
              </a:srgbClr>
            </a:outerShdw>
          </a:effectLst>
        </p:spPr>
      </p:sp>
      <p:sp>
        <p:nvSpPr>
          <p:cNvPr id="17" name="Text 15"/>
          <p:cNvSpPr/>
          <p:nvPr/>
        </p:nvSpPr>
        <p:spPr>
          <a:xfrm>
            <a:off x="6720840" y="1874520"/>
            <a:ext cx="47548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Hướng phát triển</a:t>
            </a:r>
            <a:endParaRPr lang="en-US" sz="2000" dirty="0"/>
          </a:p>
        </p:txBody>
      </p:sp>
      <p:sp>
        <p:nvSpPr>
          <p:cNvPr id="18" name="Shape 16"/>
          <p:cNvSpPr/>
          <p:nvPr/>
        </p:nvSpPr>
        <p:spPr>
          <a:xfrm>
            <a:off x="6720840" y="2679192"/>
            <a:ext cx="201168" cy="201168"/>
          </a:xfrm>
          <a:prstGeom prst="roundRect">
            <a:avLst>
              <a:gd name="adj" fmla="val 22727"/>
            </a:avLst>
          </a:prstGeom>
          <a:solidFill>
            <a:srgbClr val="4FE0A3"/>
          </a:solidFill>
          <a:ln/>
        </p:spPr>
      </p:sp>
      <p:sp>
        <p:nvSpPr>
          <p:cNvPr id="19" name="Text 17"/>
          <p:cNvSpPr/>
          <p:nvPr/>
        </p:nvSpPr>
        <p:spPr>
          <a:xfrm>
            <a:off x="7086600" y="253288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Cảnh báo khi nhiệt độ/độ ẩm vượt ngưỡng</a:t>
            </a:r>
            <a:endParaRPr lang="en-US" sz="1450" dirty="0"/>
          </a:p>
        </p:txBody>
      </p:sp>
      <p:sp>
        <p:nvSpPr>
          <p:cNvPr id="20" name="Shape 18"/>
          <p:cNvSpPr/>
          <p:nvPr/>
        </p:nvSpPr>
        <p:spPr>
          <a:xfrm>
            <a:off x="6720840" y="3456432"/>
            <a:ext cx="201168" cy="201168"/>
          </a:xfrm>
          <a:prstGeom prst="roundRect">
            <a:avLst>
              <a:gd name="adj" fmla="val 22727"/>
            </a:avLst>
          </a:prstGeom>
          <a:solidFill>
            <a:srgbClr val="4FE0A3"/>
          </a:solidFill>
          <a:ln/>
        </p:spPr>
      </p:sp>
      <p:sp>
        <p:nvSpPr>
          <p:cNvPr id="21" name="Text 19"/>
          <p:cNvSpPr/>
          <p:nvPr/>
        </p:nvSpPr>
        <p:spPr>
          <a:xfrm>
            <a:off x="7086600" y="331012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Đổi màu đèn tự động theo nhiệt độ phòng</a:t>
            </a:r>
            <a:endParaRPr lang="en-US" sz="1450" dirty="0"/>
          </a:p>
        </p:txBody>
      </p:sp>
      <p:sp>
        <p:nvSpPr>
          <p:cNvPr id="22" name="Shape 20"/>
          <p:cNvSpPr/>
          <p:nvPr/>
        </p:nvSpPr>
        <p:spPr>
          <a:xfrm>
            <a:off x="6720840" y="4233672"/>
            <a:ext cx="201168" cy="201168"/>
          </a:xfrm>
          <a:prstGeom prst="roundRect">
            <a:avLst>
              <a:gd name="adj" fmla="val 22727"/>
            </a:avLst>
          </a:prstGeom>
          <a:solidFill>
            <a:srgbClr val="4FE0A3"/>
          </a:solidFill>
          <a:ln/>
        </p:spPr>
      </p:sp>
      <p:sp>
        <p:nvSpPr>
          <p:cNvPr id="23" name="Text 21"/>
          <p:cNvSpPr/>
          <p:nvPr/>
        </p:nvSpPr>
        <p:spPr>
          <a:xfrm>
            <a:off x="7086600" y="408736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Đẩy nhiệt độ/độ ẩm lên ThingSpeak (thêm field)</a:t>
            </a:r>
            <a:endParaRPr lang="en-US" sz="1450" dirty="0"/>
          </a:p>
        </p:txBody>
      </p:sp>
      <p:sp>
        <p:nvSpPr>
          <p:cNvPr id="24" name="Shape 22"/>
          <p:cNvSpPr/>
          <p:nvPr/>
        </p:nvSpPr>
        <p:spPr>
          <a:xfrm>
            <a:off x="6720840" y="5010912"/>
            <a:ext cx="201168" cy="201168"/>
          </a:xfrm>
          <a:prstGeom prst="roundRect">
            <a:avLst>
              <a:gd name="adj" fmla="val 22727"/>
            </a:avLst>
          </a:prstGeom>
          <a:solidFill>
            <a:srgbClr val="4FE0A3"/>
          </a:solidFill>
          <a:ln/>
        </p:spPr>
      </p:sp>
      <p:sp>
        <p:nvSpPr>
          <p:cNvPr id="25" name="Text 23"/>
          <p:cNvSpPr/>
          <p:nvPr/>
        </p:nvSpPr>
        <p:spPr>
          <a:xfrm>
            <a:off x="7086600" y="4864608"/>
            <a:ext cx="4526280" cy="685800"/>
          </a:xfrm>
          <a:prstGeom prst="rect">
            <a:avLst/>
          </a:prstGeom>
          <a:noFill/>
          <a:ln/>
        </p:spPr>
        <p:txBody>
          <a:bodyPr wrap="square" lIns="0" tIns="0" rIns="0" bIns="0" rtlCol="0" anchor="t"/>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Triển khai phần cứng thật + xác thực chứng chỉ</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0"/>
        </a:solidFill>
        <a:effectLst/>
      </p:bgPr>
    </p:bg>
    <p:spTree>
      <p:nvGrpSpPr>
        <p:cNvPr id="1" name=""/>
        <p:cNvGrpSpPr/>
        <p:nvPr/>
      </p:nvGrpSpPr>
      <p:grpSpPr>
        <a:xfrm>
          <a:off x="0" y="0"/>
          <a:ext cx="0" cy="0"/>
          <a:chOff x="0" y="0"/>
          <a:chExt cx="0" cy="0"/>
        </a:xfrm>
      </p:grpSpPr>
      <p:sp>
        <p:nvSpPr>
          <p:cNvPr id="2" name="Shape 0"/>
          <p:cNvSpPr/>
          <p:nvPr/>
        </p:nvSpPr>
        <p:spPr>
          <a:xfrm>
            <a:off x="822960" y="5852160"/>
            <a:ext cx="384048" cy="384048"/>
          </a:xfrm>
          <a:prstGeom prst="ellipse">
            <a:avLst/>
          </a:prstGeom>
          <a:solidFill>
            <a:srgbClr val="FFAA00"/>
          </a:solidFill>
          <a:ln/>
          <a:effectLst>
            <a:outerShdw blurRad="152400" dist="50800" dir="16200000" algn="bl" rotWithShape="0">
              <a:srgbClr val="FFAA00">
                <a:alpha val="70000"/>
              </a:srgbClr>
            </a:outerShdw>
          </a:effectLst>
        </p:spPr>
      </p:sp>
      <p:sp>
        <p:nvSpPr>
          <p:cNvPr id="3" name="Shape 1"/>
          <p:cNvSpPr/>
          <p:nvPr/>
        </p:nvSpPr>
        <p:spPr>
          <a:xfrm>
            <a:off x="1463040" y="5852160"/>
            <a:ext cx="384048" cy="384048"/>
          </a:xfrm>
          <a:prstGeom prst="ellipse">
            <a:avLst/>
          </a:prstGeom>
          <a:solidFill>
            <a:srgbClr val="4F9CFF"/>
          </a:solidFill>
          <a:ln/>
          <a:effectLst>
            <a:outerShdw blurRad="152400" dist="50800" dir="16200000" algn="bl" rotWithShape="0">
              <a:srgbClr val="4F9CFF">
                <a:alpha val="70000"/>
              </a:srgbClr>
            </a:outerShdw>
          </a:effectLst>
        </p:spPr>
      </p:sp>
      <p:sp>
        <p:nvSpPr>
          <p:cNvPr id="4" name="Shape 2"/>
          <p:cNvSpPr/>
          <p:nvPr/>
        </p:nvSpPr>
        <p:spPr>
          <a:xfrm>
            <a:off x="2103120" y="5852160"/>
            <a:ext cx="384048" cy="384048"/>
          </a:xfrm>
          <a:prstGeom prst="ellipse">
            <a:avLst/>
          </a:prstGeom>
          <a:solidFill>
            <a:srgbClr val="4FE0A3"/>
          </a:solidFill>
          <a:ln/>
          <a:effectLst>
            <a:outerShdw blurRad="152400" dist="50800" dir="16200000" algn="bl" rotWithShape="0">
              <a:srgbClr val="4FE0A3">
                <a:alpha val="70000"/>
              </a:srgbClr>
            </a:outerShdw>
          </a:effectLst>
        </p:spPr>
      </p:sp>
      <p:sp>
        <p:nvSpPr>
          <p:cNvPr id="5" name="Shape 3"/>
          <p:cNvSpPr/>
          <p:nvPr/>
        </p:nvSpPr>
        <p:spPr>
          <a:xfrm>
            <a:off x="2743200" y="5852160"/>
            <a:ext cx="384048" cy="384048"/>
          </a:xfrm>
          <a:prstGeom prst="ellipse">
            <a:avLst/>
          </a:prstGeom>
          <a:solidFill>
            <a:srgbClr val="B07CFF"/>
          </a:solidFill>
          <a:ln/>
          <a:effectLst>
            <a:outerShdw blurRad="152400" dist="50800" dir="16200000" algn="bl" rotWithShape="0">
              <a:srgbClr val="B07CFF">
                <a:alpha val="70000"/>
              </a:srgbClr>
            </a:outerShdw>
          </a:effectLst>
        </p:spPr>
      </p:sp>
      <p:sp>
        <p:nvSpPr>
          <p:cNvPr id="6" name="Shape 4"/>
          <p:cNvSpPr/>
          <p:nvPr/>
        </p:nvSpPr>
        <p:spPr>
          <a:xfrm>
            <a:off x="3383280" y="5852160"/>
            <a:ext cx="384048" cy="384048"/>
          </a:xfrm>
          <a:prstGeom prst="ellipse">
            <a:avLst/>
          </a:prstGeom>
          <a:solidFill>
            <a:srgbClr val="FFC24D"/>
          </a:solidFill>
          <a:ln/>
          <a:effectLst>
            <a:outerShdw blurRad="152400" dist="50800" dir="16200000" algn="bl" rotWithShape="0">
              <a:srgbClr val="FFC24D">
                <a:alpha val="70000"/>
              </a:srgbClr>
            </a:outerShdw>
          </a:effectLst>
        </p:spPr>
      </p:sp>
      <p:sp>
        <p:nvSpPr>
          <p:cNvPr id="7" name="Text 5"/>
          <p:cNvSpPr/>
          <p:nvPr/>
        </p:nvSpPr>
        <p:spPr>
          <a:xfrm>
            <a:off x="822960" y="1737360"/>
            <a:ext cx="9144000" cy="365760"/>
          </a:xfrm>
          <a:prstGeom prst="rect">
            <a:avLst/>
          </a:prstGeom>
          <a:noFill/>
          <a:ln/>
        </p:spPr>
        <p:txBody>
          <a:bodyPr wrap="square" lIns="0" tIns="0" rIns="0" bIns="0" rtlCol="0" anchor="ctr"/>
          <a:lstStyle/>
          <a:p>
            <a:pPr marL="0" indent="0">
              <a:buNone/>
            </a:pPr>
            <a:r>
              <a:rPr lang="en-US" sz="1400" b="1" kern="0" spc="300" dirty="0">
                <a:solidFill>
                  <a:srgbClr val="FFAA00"/>
                </a:solidFill>
                <a:latin typeface="Calibri" pitchFamily="34" charset="0"/>
                <a:ea typeface="Calibri" pitchFamily="34" charset="-122"/>
                <a:cs typeface="Calibri" pitchFamily="34" charset="-120"/>
              </a:rPr>
              <a:t>KẾT LUẬN</a:t>
            </a:r>
            <a:endParaRPr lang="en-US" sz="1400" dirty="0"/>
          </a:p>
        </p:txBody>
      </p:sp>
      <p:sp>
        <p:nvSpPr>
          <p:cNvPr id="8" name="Text 6"/>
          <p:cNvSpPr/>
          <p:nvPr/>
        </p:nvSpPr>
        <p:spPr>
          <a:xfrm>
            <a:off x="777240" y="2103120"/>
            <a:ext cx="10607040" cy="12801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Một hệ thống IoT hoàn chỉnh, chạy thật đầu–cuối</a:t>
            </a:r>
            <a:endParaRPr lang="en-US" sz="4000" dirty="0"/>
          </a:p>
        </p:txBody>
      </p:sp>
      <p:sp>
        <p:nvSpPr>
          <p:cNvPr id="9" name="Text 7"/>
          <p:cNvSpPr/>
          <p:nvPr/>
        </p:nvSpPr>
        <p:spPr>
          <a:xfrm>
            <a:off x="822960" y="3611880"/>
            <a:ext cx="10058400" cy="1188720"/>
          </a:xfrm>
          <a:prstGeom prst="rect">
            <a:avLst/>
          </a:prstGeom>
          <a:noFill/>
          <a:ln/>
        </p:spPr>
        <p:txBody>
          <a:bodyPr wrap="square" lIns="0" tIns="0" rIns="0" bIns="0" rtlCol="0" anchor="t"/>
          <a:lstStyle/>
          <a:p>
            <a:pPr marL="0" indent="0">
              <a:lnSpc>
                <a:spcPct val="130000"/>
              </a:lnSpc>
              <a:buNone/>
            </a:pPr>
            <a:r>
              <a:rPr lang="en-US" sz="1700" dirty="0">
                <a:solidFill>
                  <a:srgbClr val="9AA7BD"/>
                </a:solidFill>
                <a:latin typeface="Calibri" pitchFamily="34" charset="0"/>
                <a:ea typeface="Calibri" pitchFamily="34" charset="-122"/>
                <a:cs typeface="Calibri" pitchFamily="34" charset="-120"/>
              </a:rPr>
              <a:t>Web ↔ MQTT ↔ ESP32 hoạt động ổn định; điều khiển 6 đèn, cảm biến môi trường, tự động hoá và thống kê đều được kiểm chứng trên môi trường thật (EMQX + Wokwi + ThingSpeak).</a:t>
            </a:r>
            <a:endParaRPr lang="en-US" sz="1700" dirty="0"/>
          </a:p>
        </p:txBody>
      </p:sp>
      <p:sp>
        <p:nvSpPr>
          <p:cNvPr id="10" name="Text 8"/>
          <p:cNvSpPr/>
          <p:nvPr/>
        </p:nvSpPr>
        <p:spPr>
          <a:xfrm>
            <a:off x="822960" y="5029200"/>
            <a:ext cx="10058400" cy="457200"/>
          </a:xfrm>
          <a:prstGeom prst="rect">
            <a:avLst/>
          </a:prstGeom>
          <a:noFill/>
          <a:ln/>
        </p:spPr>
        <p:txBody>
          <a:bodyPr wrap="square" lIns="0" tIns="0" rIns="0" bIns="0" rtlCol="0" anchor="ctr"/>
          <a:lstStyle/>
          <a:p>
            <a:pPr marL="0" indent="0">
              <a:buNone/>
            </a:pPr>
            <a:r>
              <a:rPr lang="en-US" sz="1800" b="1" i="1" dirty="0">
                <a:solidFill>
                  <a:srgbClr val="FFC24D"/>
                </a:solidFill>
                <a:latin typeface="Calibri" pitchFamily="34" charset="0"/>
                <a:ea typeface="Calibri" pitchFamily="34" charset="-122"/>
                <a:cs typeface="Calibri" pitchFamily="34" charset="-120"/>
              </a:rPr>
              <a:t>Cảm ơn thầy/cô và các bạn đã lắng nghe!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1627</Words>
  <Application>Microsoft Office PowerPoint</Application>
  <PresentationFormat>Widescreen</PresentationFormat>
  <Paragraphs>160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IoT Smart Lights Team</dc:creator>
  <cp:lastModifiedBy>thể lại</cp:lastModifiedBy>
  <cp:revision>2</cp:revision>
  <dcterms:created xsi:type="dcterms:W3CDTF">2026-07-23T17:45:06Z</dcterms:created>
  <dcterms:modified xsi:type="dcterms:W3CDTF">2026-07-23T18:41:50Z</dcterms:modified>
</cp:coreProperties>
</file>